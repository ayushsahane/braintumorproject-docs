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77" r:id="rId3"/>
    <p:sldId id="278" r:id="rId4"/>
    <p:sldId id="257" r:id="rId5"/>
    <p:sldId id="271" r:id="rId6"/>
    <p:sldId id="258" r:id="rId7"/>
    <p:sldId id="274" r:id="rId8"/>
    <p:sldId id="259" r:id="rId9"/>
    <p:sldId id="260" r:id="rId10"/>
    <p:sldId id="280" r:id="rId11"/>
    <p:sldId id="286" r:id="rId12"/>
    <p:sldId id="281" r:id="rId13"/>
    <p:sldId id="282" r:id="rId14"/>
    <p:sldId id="283" r:id="rId15"/>
    <p:sldId id="284" r:id="rId16"/>
    <p:sldId id="285" r:id="rId17"/>
    <p:sldId id="263" r:id="rId18"/>
    <p:sldId id="270" r:id="rId19"/>
  </p:sldIdLst>
  <p:sldSz cx="18288000" cy="10287000"/>
  <p:notesSz cx="6858000" cy="9144000"/>
  <p:embeddedFontLst>
    <p:embeddedFont>
      <p:font typeface="Brick Sans" pitchFamily="2" charset="77"/>
      <p:regular r:id="rId21"/>
    </p:embeddedFont>
    <p:embeddedFont>
      <p:font typeface="Public Sans" pitchFamily="2" charset="77"/>
      <p:regular r:id="rId22"/>
    </p:embeddedFont>
    <p:embeddedFont>
      <p:font typeface="Public Sans Bold" pitchFamily="2" charset="77"/>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84" autoAdjust="0"/>
    <p:restoredTop sz="94667" autoAdjust="0"/>
  </p:normalViewPr>
  <p:slideViewPr>
    <p:cSldViewPr>
      <p:cViewPr varScale="1">
        <p:scale>
          <a:sx n="73" d="100"/>
          <a:sy n="73" d="100"/>
        </p:scale>
        <p:origin x="512" y="2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EA4B5-DC01-6F4B-8D9B-4DA785C5DC02}" type="datetimeFigureOut">
              <a:rPr lang="en-US" smtClean="0"/>
              <a:t>5/13/26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B8BBA1-B5CE-6E42-BE68-4B73D1358F30}" type="slidenum">
              <a:rPr lang="en-US" smtClean="0"/>
              <a:t>‹#›</a:t>
            </a:fld>
            <a:endParaRPr lang="en-US"/>
          </a:p>
        </p:txBody>
      </p:sp>
    </p:spTree>
    <p:extLst>
      <p:ext uri="{BB962C8B-B14F-4D97-AF65-F5344CB8AC3E}">
        <p14:creationId xmlns:p14="http://schemas.microsoft.com/office/powerpoint/2010/main" val="1503894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B8BBA1-B5CE-6E42-BE68-4B73D1358F30}" type="slidenum">
              <a:rPr lang="en-US" smtClean="0"/>
              <a:t>17</a:t>
            </a:fld>
            <a:endParaRPr lang="en-US"/>
          </a:p>
        </p:txBody>
      </p:sp>
    </p:spTree>
    <p:extLst>
      <p:ext uri="{BB962C8B-B14F-4D97-AF65-F5344CB8AC3E}">
        <p14:creationId xmlns:p14="http://schemas.microsoft.com/office/powerpoint/2010/main" val="36723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8.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0.sv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0.sv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6.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9.sv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5.svg"/><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22894" y="10496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1793077">
            <a:off x="1979827" y="-203162"/>
            <a:ext cx="1769402" cy="2463725"/>
          </a:xfrm>
          <a:custGeom>
            <a:avLst/>
            <a:gdLst/>
            <a:ahLst/>
            <a:cxnLst/>
            <a:rect l="l" t="t" r="r" b="b"/>
            <a:pathLst>
              <a:path w="1769402" h="2463725">
                <a:moveTo>
                  <a:pt x="0" y="0"/>
                </a:moveTo>
                <a:lnTo>
                  <a:pt x="1769402" y="0"/>
                </a:lnTo>
                <a:lnTo>
                  <a:pt x="1769402" y="2463724"/>
                </a:lnTo>
                <a:lnTo>
                  <a:pt x="0" y="24637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942242" y="24933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rot="855077">
            <a:off x="14265134" y="-162966"/>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3129847" y="603503"/>
            <a:ext cx="12092272" cy="4190887"/>
            <a:chOff x="0" y="0"/>
            <a:chExt cx="1100680" cy="381469"/>
          </a:xfrm>
        </p:grpSpPr>
        <p:sp>
          <p:nvSpPr>
            <p:cNvPr id="7" name="Freeform 7"/>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txBody>
            <a:bodyPr/>
            <a:lstStyle/>
            <a:p>
              <a:endParaRPr lang="en-US"/>
            </a:p>
          </p:txBody>
        </p:sp>
        <p:sp>
          <p:nvSpPr>
            <p:cNvPr id="8" name="TextBox 8"/>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432945" y="5542054"/>
            <a:ext cx="5018594" cy="5403600"/>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2639554" y="5542054"/>
            <a:ext cx="3814457" cy="5060639"/>
          </a:xfrm>
          <a:custGeom>
            <a:avLst/>
            <a:gdLst/>
            <a:ahLst/>
            <a:cxnLst/>
            <a:rect l="l" t="t" r="r" b="b"/>
            <a:pathLst>
              <a:path w="3814457" h="5060639">
                <a:moveTo>
                  <a:pt x="0" y="0"/>
                </a:moveTo>
                <a:lnTo>
                  <a:pt x="3814457" y="0"/>
                </a:lnTo>
                <a:lnTo>
                  <a:pt x="3814457" y="5060640"/>
                </a:lnTo>
                <a:lnTo>
                  <a:pt x="0" y="506064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a:off x="5644433" y="5542054"/>
            <a:ext cx="4031635" cy="5229715"/>
          </a:xfrm>
          <a:custGeom>
            <a:avLst/>
            <a:gdLst/>
            <a:ahLst/>
            <a:cxnLst/>
            <a:rect l="l" t="t" r="r" b="b"/>
            <a:pathLst>
              <a:path w="4031635" h="5229715">
                <a:moveTo>
                  <a:pt x="0" y="0"/>
                </a:moveTo>
                <a:lnTo>
                  <a:pt x="4031635" y="0"/>
                </a:lnTo>
                <a:lnTo>
                  <a:pt x="4031635" y="5229715"/>
                </a:lnTo>
                <a:lnTo>
                  <a:pt x="0" y="522971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rot="-1257881">
            <a:off x="-400893" y="2974914"/>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3" name="Freeform 13"/>
          <p:cNvSpPr/>
          <p:nvPr/>
        </p:nvSpPr>
        <p:spPr>
          <a:xfrm rot="-1248570">
            <a:off x="15858283" y="2774300"/>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a:off x="12635147" y="5372979"/>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15" name="Freeform 15"/>
          <p:cNvSpPr/>
          <p:nvPr/>
        </p:nvSpPr>
        <p:spPr>
          <a:xfrm rot="-5500207">
            <a:off x="3412617" y="353163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16" name="Group 16"/>
          <p:cNvGrpSpPr/>
          <p:nvPr/>
        </p:nvGrpSpPr>
        <p:grpSpPr>
          <a:xfrm>
            <a:off x="5744169" y="54259"/>
            <a:ext cx="7040819" cy="1270502"/>
            <a:chOff x="0" y="-38100"/>
            <a:chExt cx="2860316" cy="419569"/>
          </a:xfrm>
        </p:grpSpPr>
        <p:sp>
          <p:nvSpPr>
            <p:cNvPr id="17" name="Freeform 17"/>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txBody>
            <a:bodyPr/>
            <a:lstStyle/>
            <a:p>
              <a:endParaRPr lang="en-US"/>
            </a:p>
          </p:txBody>
        </p:sp>
        <p:sp>
          <p:nvSpPr>
            <p:cNvPr id="18" name="TextBox 18"/>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rot="-5500207" flipH="1">
            <a:off x="13302578" y="3654686"/>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TextBox 20"/>
          <p:cNvSpPr txBox="1"/>
          <p:nvPr/>
        </p:nvSpPr>
        <p:spPr>
          <a:xfrm>
            <a:off x="6080293" y="230238"/>
            <a:ext cx="6235667" cy="1025089"/>
          </a:xfrm>
          <a:prstGeom prst="rect">
            <a:avLst/>
          </a:prstGeom>
        </p:spPr>
        <p:txBody>
          <a:bodyPr lIns="0" tIns="0" rIns="0" bIns="0" rtlCol="0" anchor="t">
            <a:spAutoFit/>
          </a:bodyPr>
          <a:lstStyle/>
          <a:p>
            <a:pPr algn="ctr">
              <a:lnSpc>
                <a:spcPts val="4200"/>
              </a:lnSpc>
            </a:pPr>
            <a:r>
              <a:rPr lang="en-US" sz="2800" b="1" dirty="0">
                <a:solidFill>
                  <a:srgbClr val="222366"/>
                </a:solidFill>
                <a:latin typeface="Public Sans Bold"/>
                <a:ea typeface="Public Sans Bold"/>
                <a:cs typeface="Public Sans Bold"/>
                <a:sym typeface="Public Sans Bold"/>
              </a:rPr>
              <a:t>Created By : Ayush Sahane (a1984073)</a:t>
            </a:r>
          </a:p>
        </p:txBody>
      </p:sp>
      <p:sp>
        <p:nvSpPr>
          <p:cNvPr id="21" name="TextBox 21"/>
          <p:cNvSpPr txBox="1"/>
          <p:nvPr/>
        </p:nvSpPr>
        <p:spPr>
          <a:xfrm>
            <a:off x="3048000" y="1587877"/>
            <a:ext cx="12184212" cy="2488823"/>
          </a:xfrm>
          <a:prstGeom prst="rect">
            <a:avLst/>
          </a:prstGeom>
        </p:spPr>
        <p:txBody>
          <a:bodyPr wrap="square" lIns="0" tIns="0" rIns="0" bIns="0" rtlCol="0" anchor="t">
            <a:spAutoFit/>
          </a:bodyPr>
          <a:lstStyle/>
          <a:p>
            <a:pPr algn="ctr">
              <a:lnSpc>
                <a:spcPts val="10499"/>
              </a:lnSpc>
            </a:pPr>
            <a:r>
              <a:rPr lang="en-US" sz="5200" dirty="0">
                <a:solidFill>
                  <a:srgbClr val="222366"/>
                </a:solidFill>
                <a:latin typeface="Brick Sans"/>
                <a:ea typeface="Brick Sans"/>
                <a:cs typeface="Brick Sans"/>
                <a:sym typeface="Brick Sans"/>
              </a:rPr>
              <a:t>Tumor Trace - Brain Tumor Detection System  </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045EA-3805-6232-28C3-81A3B7B32C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2636DD-55B6-D96B-1CFD-D2010647F254}"/>
              </a:ext>
            </a:extLst>
          </p:cNvPr>
          <p:cNvSpPr/>
          <p:nvPr/>
        </p:nvSpPr>
        <p:spPr>
          <a:xfrm>
            <a:off x="3721612" y="340970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a:extLst>
              <a:ext uri="{FF2B5EF4-FFF2-40B4-BE49-F238E27FC236}">
                <a16:creationId xmlns:a16="http://schemas.microsoft.com/office/drawing/2014/main" id="{C7D57439-5789-7768-D198-665AAF4605E4}"/>
              </a:ext>
            </a:extLst>
          </p:cNvPr>
          <p:cNvSpPr/>
          <p:nvPr/>
        </p:nvSpPr>
        <p:spPr>
          <a:xfrm>
            <a:off x="9859897" y="-671355"/>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25D93CFE-2F87-BB35-36CE-33A6B295192D}"/>
              </a:ext>
            </a:extLst>
          </p:cNvPr>
          <p:cNvGrpSpPr/>
          <p:nvPr/>
        </p:nvGrpSpPr>
        <p:grpSpPr>
          <a:xfrm>
            <a:off x="10700522" y="1153874"/>
            <a:ext cx="5694209" cy="8280195"/>
            <a:chOff x="0" y="0"/>
            <a:chExt cx="812800" cy="1181928"/>
          </a:xfrm>
        </p:grpSpPr>
        <p:sp>
          <p:nvSpPr>
            <p:cNvPr id="5" name="Freeform 5">
              <a:extLst>
                <a:ext uri="{FF2B5EF4-FFF2-40B4-BE49-F238E27FC236}">
                  <a16:creationId xmlns:a16="http://schemas.microsoft.com/office/drawing/2014/main" id="{90455B8F-057F-08B7-254A-3749CE63864B}"/>
                </a:ext>
              </a:extLst>
            </p:cNvPr>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txBody>
            <a:bodyPr/>
            <a:lstStyle/>
            <a:p>
              <a:endParaRPr lang="en-US"/>
            </a:p>
          </p:txBody>
        </p:sp>
        <p:sp>
          <p:nvSpPr>
            <p:cNvPr id="6" name="TextBox 6">
              <a:extLst>
                <a:ext uri="{FF2B5EF4-FFF2-40B4-BE49-F238E27FC236}">
                  <a16:creationId xmlns:a16="http://schemas.microsoft.com/office/drawing/2014/main" id="{DA4F4D1B-42A3-0668-A0D6-B5E74C8D28D0}"/>
                </a:ext>
              </a:extLst>
            </p:cNvPr>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25714D85-3C54-1EEC-6336-95FF46E59F2C}"/>
              </a:ext>
            </a:extLst>
          </p:cNvPr>
          <p:cNvSpPr/>
          <p:nvPr/>
        </p:nvSpPr>
        <p:spPr>
          <a:xfrm>
            <a:off x="3981015" y="3409708"/>
            <a:ext cx="7876905" cy="8350564"/>
          </a:xfrm>
          <a:custGeom>
            <a:avLst/>
            <a:gdLst/>
            <a:ahLst/>
            <a:cxnLst/>
            <a:rect l="l" t="t" r="r" b="b"/>
            <a:pathLst>
              <a:path w="6410088" h="6901845">
                <a:moveTo>
                  <a:pt x="0" y="0"/>
                </a:moveTo>
                <a:lnTo>
                  <a:pt x="6410088" y="0"/>
                </a:lnTo>
                <a:lnTo>
                  <a:pt x="6410088" y="6901845"/>
                </a:lnTo>
                <a:lnTo>
                  <a:pt x="0" y="69018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6F3C73A9-A9AC-4C40-E465-AC5438228F6C}"/>
              </a:ext>
            </a:extLst>
          </p:cNvPr>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a:extLst>
              <a:ext uri="{FF2B5EF4-FFF2-40B4-BE49-F238E27FC236}">
                <a16:creationId xmlns:a16="http://schemas.microsoft.com/office/drawing/2014/main" id="{6A203580-37DA-615C-8666-BF798E0716B0}"/>
              </a:ext>
            </a:extLst>
          </p:cNvPr>
          <p:cNvSpPr txBox="1"/>
          <p:nvPr/>
        </p:nvSpPr>
        <p:spPr>
          <a:xfrm>
            <a:off x="635137" y="460110"/>
            <a:ext cx="6172949" cy="2529282"/>
          </a:xfrm>
          <a:prstGeom prst="rect">
            <a:avLst/>
          </a:prstGeom>
        </p:spPr>
        <p:txBody>
          <a:bodyPr lIns="0" tIns="0" rIns="0" bIns="0" rtlCol="0" anchor="t">
            <a:spAutoFit/>
          </a:bodyPr>
          <a:lstStyle/>
          <a:p>
            <a:pPr algn="l">
              <a:lnSpc>
                <a:spcPts val="10500"/>
              </a:lnSpc>
            </a:pPr>
            <a:r>
              <a:rPr lang="en-US" sz="6600" dirty="0">
                <a:solidFill>
                  <a:srgbClr val="222366"/>
                </a:solidFill>
                <a:latin typeface="Brick Sans"/>
                <a:ea typeface="Brick Sans"/>
                <a:cs typeface="Brick Sans"/>
                <a:sym typeface="Brick Sans"/>
              </a:rPr>
              <a:t>THE PROBLEM!</a:t>
            </a:r>
          </a:p>
        </p:txBody>
      </p:sp>
      <p:sp>
        <p:nvSpPr>
          <p:cNvPr id="13" name="Freeform 8">
            <a:extLst>
              <a:ext uri="{FF2B5EF4-FFF2-40B4-BE49-F238E27FC236}">
                <a16:creationId xmlns:a16="http://schemas.microsoft.com/office/drawing/2014/main" id="{11A8B4D7-5685-8745-6048-1FEFE7AFAA87}"/>
              </a:ext>
            </a:extLst>
          </p:cNvPr>
          <p:cNvSpPr/>
          <p:nvPr/>
        </p:nvSpPr>
        <p:spPr>
          <a:xfrm rot="20351430">
            <a:off x="836864" y="5296405"/>
            <a:ext cx="2683021" cy="3953040"/>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Shape 3">
            <a:extLst>
              <a:ext uri="{FF2B5EF4-FFF2-40B4-BE49-F238E27FC236}">
                <a16:creationId xmlns:a16="http://schemas.microsoft.com/office/drawing/2014/main" id="{63334AD2-BA46-71A9-E3BF-ED501DB02589}"/>
              </a:ext>
            </a:extLst>
          </p:cNvPr>
          <p:cNvSpPr/>
          <p:nvPr/>
        </p:nvSpPr>
        <p:spPr>
          <a:xfrm>
            <a:off x="10599092" y="1724751"/>
            <a:ext cx="5897065" cy="6390549"/>
          </a:xfrm>
          <a:prstGeom prst="rect">
            <a:avLst/>
          </a:prstGeom>
          <a:solidFill>
            <a:srgbClr val="0D7377"/>
          </a:solidFill>
          <a:ln w="12700">
            <a:solidFill>
              <a:srgbClr val="0D7377"/>
            </a:solidFill>
            <a:prstDash val="solid"/>
          </a:ln>
          <a:effectLst>
            <a:outerShdw blurRad="101600" dist="38100" dir="8100000" algn="bl" rotWithShape="0">
              <a:srgbClr val="000000">
                <a:alpha val="15000"/>
              </a:srgbClr>
            </a:outerShdw>
          </a:effectLst>
        </p:spPr>
        <p:txBody>
          <a:bodyPr/>
          <a:lstStyle/>
          <a:p>
            <a:pPr algn="ctr"/>
            <a:r>
              <a:rPr lang="en-US" sz="6600" b="1" dirty="0">
                <a:solidFill>
                  <a:srgbClr val="FFFFFF"/>
                </a:solidFill>
                <a:latin typeface="Calibri" pitchFamily="34" charset="0"/>
                <a:ea typeface="Calibri" pitchFamily="34" charset="-122"/>
                <a:cs typeface="Calibri" pitchFamily="34" charset="-120"/>
              </a:rPr>
              <a:t>330K+</a:t>
            </a:r>
          </a:p>
          <a:p>
            <a:r>
              <a:rPr lang="en-US" sz="4800" b="1" dirty="0">
                <a:solidFill>
                  <a:srgbClr val="FFFFFF"/>
                </a:solidFill>
                <a:latin typeface="Calibri" pitchFamily="34" charset="0"/>
                <a:cs typeface="Calibri" pitchFamily="34" charset="-120"/>
              </a:rPr>
              <a:t>New Brain Tumor Cases Diagnose Globally Per Year.</a:t>
            </a:r>
          </a:p>
          <a:p>
            <a:endParaRPr lang="en-US" sz="4800" b="1" dirty="0">
              <a:solidFill>
                <a:srgbClr val="FFFFFF"/>
              </a:solidFill>
              <a:latin typeface="Calibri" pitchFamily="34" charset="0"/>
              <a:cs typeface="Calibri" pitchFamily="34" charset="-120"/>
            </a:endParaRPr>
          </a:p>
          <a:p>
            <a:pPr algn="ctr"/>
            <a:r>
              <a:rPr lang="en-US" sz="4800" i="1" dirty="0">
                <a:solidFill>
                  <a:srgbClr val="FFFFFF"/>
                </a:solidFill>
                <a:latin typeface="Calibri" pitchFamily="34" charset="0"/>
                <a:ea typeface="Calibri" pitchFamily="34" charset="-122"/>
                <a:cs typeface="Calibri" pitchFamily="34" charset="-120"/>
              </a:rPr>
              <a:t>Early detection = 2x</a:t>
            </a:r>
            <a:endParaRPr lang="en-US" sz="4800" dirty="0"/>
          </a:p>
          <a:p>
            <a:pPr algn="ctr"/>
            <a:r>
              <a:rPr lang="en-US" sz="4800" i="1" dirty="0">
                <a:solidFill>
                  <a:srgbClr val="FFFFFF"/>
                </a:solidFill>
                <a:latin typeface="Calibri" pitchFamily="34" charset="0"/>
                <a:ea typeface="Calibri" pitchFamily="34" charset="-122"/>
                <a:cs typeface="Calibri" pitchFamily="34" charset="-120"/>
              </a:rPr>
              <a:t>survival improvement</a:t>
            </a:r>
            <a:endParaRPr lang="en-US" sz="4800" dirty="0"/>
          </a:p>
          <a:p>
            <a:r>
              <a:rPr lang="en-US" sz="4800" b="1" dirty="0">
                <a:solidFill>
                  <a:srgbClr val="FFFFFF"/>
                </a:solidFill>
                <a:latin typeface="Calibri" pitchFamily="34" charset="0"/>
                <a:cs typeface="Calibri" pitchFamily="34" charset="-120"/>
              </a:rPr>
              <a:t> </a:t>
            </a:r>
            <a:endParaRPr lang="en-US" sz="4800" dirty="0"/>
          </a:p>
        </p:txBody>
      </p:sp>
      <p:sp>
        <p:nvSpPr>
          <p:cNvPr id="14" name="Shape 6">
            <a:extLst>
              <a:ext uri="{FF2B5EF4-FFF2-40B4-BE49-F238E27FC236}">
                <a16:creationId xmlns:a16="http://schemas.microsoft.com/office/drawing/2014/main" id="{EBB53BC4-5362-0B41-E2AF-56C36F67BC41}"/>
              </a:ext>
            </a:extLst>
          </p:cNvPr>
          <p:cNvSpPr/>
          <p:nvPr/>
        </p:nvSpPr>
        <p:spPr>
          <a:xfrm>
            <a:off x="10587590" y="5207193"/>
            <a:ext cx="5897065" cy="173549"/>
          </a:xfrm>
          <a:prstGeom prst="rect">
            <a:avLst/>
          </a:prstGeom>
          <a:solidFill>
            <a:srgbClr val="F4A825"/>
          </a:solidFill>
          <a:ln w="12700">
            <a:solidFill>
              <a:srgbClr val="F4A825"/>
            </a:solidFill>
            <a:prstDash val="solid"/>
          </a:ln>
        </p:spPr>
        <p:txBody>
          <a:bodyPr/>
          <a:lstStyle/>
          <a:p>
            <a:endParaRPr lang="en-US"/>
          </a:p>
        </p:txBody>
      </p:sp>
    </p:spTree>
    <p:extLst>
      <p:ext uri="{BB962C8B-B14F-4D97-AF65-F5344CB8AC3E}">
        <p14:creationId xmlns:p14="http://schemas.microsoft.com/office/powerpoint/2010/main" val="280836032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AA5B2-0F0A-8DDD-CC98-6110CEAF23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AE785A-495C-623E-8BBC-DD4C0CDE9DDE}"/>
              </a:ext>
            </a:extLst>
          </p:cNvPr>
          <p:cNvSpPr/>
          <p:nvPr/>
        </p:nvSpPr>
        <p:spPr>
          <a:xfrm>
            <a:off x="-1163445"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B22E39C8-A176-0EE2-FA56-EE591B11D195}"/>
              </a:ext>
            </a:extLst>
          </p:cNvPr>
          <p:cNvSpPr/>
          <p:nvPr/>
        </p:nvSpPr>
        <p:spPr>
          <a:xfrm>
            <a:off x="15222364" y="180808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76EB190F-A092-B668-8BA1-91D26E95BD6B}"/>
              </a:ext>
            </a:extLst>
          </p:cNvPr>
          <p:cNvGrpSpPr/>
          <p:nvPr/>
        </p:nvGrpSpPr>
        <p:grpSpPr>
          <a:xfrm>
            <a:off x="1828125" y="2170665"/>
            <a:ext cx="7176083" cy="2972835"/>
            <a:chOff x="0" y="-38100"/>
            <a:chExt cx="883555" cy="419569"/>
          </a:xfrm>
        </p:grpSpPr>
        <p:sp>
          <p:nvSpPr>
            <p:cNvPr id="5" name="Freeform 5">
              <a:extLst>
                <a:ext uri="{FF2B5EF4-FFF2-40B4-BE49-F238E27FC236}">
                  <a16:creationId xmlns:a16="http://schemas.microsoft.com/office/drawing/2014/main" id="{EEFAFEBC-2070-B80E-17E1-602DFCAC10C4}"/>
                </a:ext>
              </a:extLst>
            </p:cNvPr>
            <p:cNvSpPr/>
            <p:nvPr/>
          </p:nvSpPr>
          <p:spPr>
            <a:xfrm>
              <a:off x="0" y="0"/>
              <a:ext cx="883555" cy="300181"/>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txBody>
            <a:bodyPr/>
            <a:lstStyle/>
            <a:p>
              <a:endParaRPr lang="en-US"/>
            </a:p>
          </p:txBody>
        </p:sp>
        <p:sp>
          <p:nvSpPr>
            <p:cNvPr id="6" name="TextBox 6">
              <a:extLst>
                <a:ext uri="{FF2B5EF4-FFF2-40B4-BE49-F238E27FC236}">
                  <a16:creationId xmlns:a16="http://schemas.microsoft.com/office/drawing/2014/main" id="{2886402F-FC70-EE35-7F01-395825D44767}"/>
                </a:ext>
              </a:extLst>
            </p:cNvPr>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7" name="Group 7">
            <a:extLst>
              <a:ext uri="{FF2B5EF4-FFF2-40B4-BE49-F238E27FC236}">
                <a16:creationId xmlns:a16="http://schemas.microsoft.com/office/drawing/2014/main" id="{F82296B4-81B2-96AF-848A-11BD2BC23B98}"/>
              </a:ext>
            </a:extLst>
          </p:cNvPr>
          <p:cNvGrpSpPr/>
          <p:nvPr/>
        </p:nvGrpSpPr>
        <p:grpSpPr>
          <a:xfrm>
            <a:off x="1940346" y="5826407"/>
            <a:ext cx="7082961" cy="2053167"/>
            <a:chOff x="0" y="0"/>
            <a:chExt cx="883555" cy="381469"/>
          </a:xfrm>
        </p:grpSpPr>
        <p:sp>
          <p:nvSpPr>
            <p:cNvPr id="8" name="Freeform 8">
              <a:extLst>
                <a:ext uri="{FF2B5EF4-FFF2-40B4-BE49-F238E27FC236}">
                  <a16:creationId xmlns:a16="http://schemas.microsoft.com/office/drawing/2014/main" id="{D56E8364-7BE1-EBC0-5BF8-A4306E5AB703}"/>
                </a:ext>
              </a:extLst>
            </p:cNvPr>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txBody>
            <a:bodyPr/>
            <a:lstStyle/>
            <a:p>
              <a:endParaRPr lang="en-US"/>
            </a:p>
          </p:txBody>
        </p:sp>
        <p:sp>
          <p:nvSpPr>
            <p:cNvPr id="9" name="TextBox 9">
              <a:extLst>
                <a:ext uri="{FF2B5EF4-FFF2-40B4-BE49-F238E27FC236}">
                  <a16:creationId xmlns:a16="http://schemas.microsoft.com/office/drawing/2014/main" id="{8FAA951C-1D97-AFAA-EB09-9646461EB85B}"/>
                </a:ext>
              </a:extLst>
            </p:cNvPr>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5A354A51-17D6-326A-C72F-27DA0E781608}"/>
              </a:ext>
            </a:extLst>
          </p:cNvPr>
          <p:cNvSpPr/>
          <p:nvPr/>
        </p:nvSpPr>
        <p:spPr>
          <a:xfrm rot="-1793077">
            <a:off x="16507575" y="5105478"/>
            <a:ext cx="2859370" cy="3981402"/>
          </a:xfrm>
          <a:custGeom>
            <a:avLst/>
            <a:gdLst/>
            <a:ahLst/>
            <a:cxnLst/>
            <a:rect l="l" t="t" r="r" b="b"/>
            <a:pathLst>
              <a:path w="2859370" h="3981402">
                <a:moveTo>
                  <a:pt x="0" y="0"/>
                </a:moveTo>
                <a:lnTo>
                  <a:pt x="2859370" y="0"/>
                </a:lnTo>
                <a:lnTo>
                  <a:pt x="2859370" y="3981402"/>
                </a:lnTo>
                <a:lnTo>
                  <a:pt x="0" y="39814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6F7598E8-D419-41B7-C540-A1543D506960}"/>
              </a:ext>
            </a:extLst>
          </p:cNvPr>
          <p:cNvSpPr/>
          <p:nvPr/>
        </p:nvSpPr>
        <p:spPr>
          <a:xfrm rot="855077">
            <a:off x="-518506" y="5234288"/>
            <a:ext cx="2752419" cy="3173649"/>
          </a:xfrm>
          <a:custGeom>
            <a:avLst/>
            <a:gdLst/>
            <a:ahLst/>
            <a:cxnLst/>
            <a:rect l="l" t="t" r="r" b="b"/>
            <a:pathLst>
              <a:path w="2752419" h="3173649">
                <a:moveTo>
                  <a:pt x="0" y="0"/>
                </a:moveTo>
                <a:lnTo>
                  <a:pt x="2752419" y="0"/>
                </a:lnTo>
                <a:lnTo>
                  <a:pt x="2752419" y="3173649"/>
                </a:lnTo>
                <a:lnTo>
                  <a:pt x="0" y="31736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98B21045-9C9A-DCAB-4837-7BB5C495496C}"/>
              </a:ext>
            </a:extLst>
          </p:cNvPr>
          <p:cNvSpPr/>
          <p:nvPr/>
        </p:nvSpPr>
        <p:spPr>
          <a:xfrm rot="-137149">
            <a:off x="17236257" y="260001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a:extLst>
              <a:ext uri="{FF2B5EF4-FFF2-40B4-BE49-F238E27FC236}">
                <a16:creationId xmlns:a16="http://schemas.microsoft.com/office/drawing/2014/main" id="{6651824A-D58A-5A67-D287-BD336E019C85}"/>
              </a:ext>
            </a:extLst>
          </p:cNvPr>
          <p:cNvSpPr/>
          <p:nvPr/>
        </p:nvSpPr>
        <p:spPr>
          <a:xfrm rot="-137149">
            <a:off x="885105" y="92857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4" name="Group 14">
            <a:extLst>
              <a:ext uri="{FF2B5EF4-FFF2-40B4-BE49-F238E27FC236}">
                <a16:creationId xmlns:a16="http://schemas.microsoft.com/office/drawing/2014/main" id="{FFCF960B-D712-D35E-D0A6-DDC532ECF4D6}"/>
              </a:ext>
            </a:extLst>
          </p:cNvPr>
          <p:cNvGrpSpPr/>
          <p:nvPr/>
        </p:nvGrpSpPr>
        <p:grpSpPr>
          <a:xfrm>
            <a:off x="9330614" y="2436534"/>
            <a:ext cx="6898201" cy="2131004"/>
            <a:chOff x="0" y="0"/>
            <a:chExt cx="883555" cy="381469"/>
          </a:xfrm>
        </p:grpSpPr>
        <p:sp>
          <p:nvSpPr>
            <p:cNvPr id="15" name="Freeform 15">
              <a:extLst>
                <a:ext uri="{FF2B5EF4-FFF2-40B4-BE49-F238E27FC236}">
                  <a16:creationId xmlns:a16="http://schemas.microsoft.com/office/drawing/2014/main" id="{72EB3480-BB9E-32FE-60F8-1253F7AF5158}"/>
                </a:ext>
              </a:extLst>
            </p:cNvPr>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txBody>
            <a:bodyPr/>
            <a:lstStyle/>
            <a:p>
              <a:endParaRPr lang="en-US"/>
            </a:p>
          </p:txBody>
        </p:sp>
        <p:sp>
          <p:nvSpPr>
            <p:cNvPr id="16" name="TextBox 16">
              <a:extLst>
                <a:ext uri="{FF2B5EF4-FFF2-40B4-BE49-F238E27FC236}">
                  <a16:creationId xmlns:a16="http://schemas.microsoft.com/office/drawing/2014/main" id="{7DCC6323-38F1-46C3-6980-0626D755074E}"/>
                </a:ext>
              </a:extLst>
            </p:cNvPr>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17" name="Group 17">
            <a:extLst>
              <a:ext uri="{FF2B5EF4-FFF2-40B4-BE49-F238E27FC236}">
                <a16:creationId xmlns:a16="http://schemas.microsoft.com/office/drawing/2014/main" id="{E200E5F3-2B57-8C39-EBD5-B1B8B4C3B0EC}"/>
              </a:ext>
            </a:extLst>
          </p:cNvPr>
          <p:cNvGrpSpPr/>
          <p:nvPr/>
        </p:nvGrpSpPr>
        <p:grpSpPr>
          <a:xfrm>
            <a:off x="9256066" y="5756943"/>
            <a:ext cx="7066096" cy="2122631"/>
            <a:chOff x="0" y="0"/>
            <a:chExt cx="883555" cy="381469"/>
          </a:xfrm>
        </p:grpSpPr>
        <p:sp>
          <p:nvSpPr>
            <p:cNvPr id="18" name="Freeform 18">
              <a:extLst>
                <a:ext uri="{FF2B5EF4-FFF2-40B4-BE49-F238E27FC236}">
                  <a16:creationId xmlns:a16="http://schemas.microsoft.com/office/drawing/2014/main" id="{0BF9AE93-D9EC-42DA-FE84-377EF4F34298}"/>
                </a:ext>
              </a:extLst>
            </p:cNvPr>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txBody>
            <a:bodyPr/>
            <a:lstStyle/>
            <a:p>
              <a:endParaRPr lang="en-US"/>
            </a:p>
          </p:txBody>
        </p:sp>
        <p:sp>
          <p:nvSpPr>
            <p:cNvPr id="19" name="TextBox 19">
              <a:extLst>
                <a:ext uri="{FF2B5EF4-FFF2-40B4-BE49-F238E27FC236}">
                  <a16:creationId xmlns:a16="http://schemas.microsoft.com/office/drawing/2014/main" id="{9874C1E1-6CFB-6072-3C2F-3276A6E48A60}"/>
                </a:ext>
              </a:extLst>
            </p:cNvPr>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20" name="Group 20">
            <a:extLst>
              <a:ext uri="{FF2B5EF4-FFF2-40B4-BE49-F238E27FC236}">
                <a16:creationId xmlns:a16="http://schemas.microsoft.com/office/drawing/2014/main" id="{A19D3016-3CAA-9330-A873-59888EE5F2D3}"/>
              </a:ext>
            </a:extLst>
          </p:cNvPr>
          <p:cNvGrpSpPr/>
          <p:nvPr/>
        </p:nvGrpSpPr>
        <p:grpSpPr>
          <a:xfrm>
            <a:off x="3034714" y="2029741"/>
            <a:ext cx="4794184" cy="842474"/>
            <a:chOff x="0" y="0"/>
            <a:chExt cx="2860316" cy="381469"/>
          </a:xfrm>
        </p:grpSpPr>
        <p:sp>
          <p:nvSpPr>
            <p:cNvPr id="21" name="Freeform 21">
              <a:extLst>
                <a:ext uri="{FF2B5EF4-FFF2-40B4-BE49-F238E27FC236}">
                  <a16:creationId xmlns:a16="http://schemas.microsoft.com/office/drawing/2014/main" id="{E9180F67-8677-7921-F11E-BB0F415FF8F0}"/>
                </a:ext>
              </a:extLst>
            </p:cNvPr>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txBody>
            <a:bodyPr/>
            <a:lstStyle/>
            <a:p>
              <a:endParaRPr lang="en-US"/>
            </a:p>
          </p:txBody>
        </p:sp>
        <p:sp>
          <p:nvSpPr>
            <p:cNvPr id="22" name="TextBox 22">
              <a:extLst>
                <a:ext uri="{FF2B5EF4-FFF2-40B4-BE49-F238E27FC236}">
                  <a16:creationId xmlns:a16="http://schemas.microsoft.com/office/drawing/2014/main" id="{9480F11F-0CDD-525D-BD13-DC042A7CD487}"/>
                </a:ext>
              </a:extLst>
            </p:cNvPr>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3" name="Group 23">
            <a:extLst>
              <a:ext uri="{FF2B5EF4-FFF2-40B4-BE49-F238E27FC236}">
                <a16:creationId xmlns:a16="http://schemas.microsoft.com/office/drawing/2014/main" id="{83BBFEF9-6E80-D6C5-C795-F2885D8D4A3B}"/>
              </a:ext>
            </a:extLst>
          </p:cNvPr>
          <p:cNvGrpSpPr/>
          <p:nvPr/>
        </p:nvGrpSpPr>
        <p:grpSpPr>
          <a:xfrm>
            <a:off x="10392992" y="2065762"/>
            <a:ext cx="4794184" cy="842473"/>
            <a:chOff x="0" y="0"/>
            <a:chExt cx="2860316" cy="381469"/>
          </a:xfrm>
        </p:grpSpPr>
        <p:sp>
          <p:nvSpPr>
            <p:cNvPr id="24" name="Freeform 24">
              <a:extLst>
                <a:ext uri="{FF2B5EF4-FFF2-40B4-BE49-F238E27FC236}">
                  <a16:creationId xmlns:a16="http://schemas.microsoft.com/office/drawing/2014/main" id="{50CF0AA4-A9AF-80CE-492B-98A74C184480}"/>
                </a:ext>
              </a:extLst>
            </p:cNvPr>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txBody>
            <a:bodyPr/>
            <a:lstStyle/>
            <a:p>
              <a:endParaRPr lang="en-US"/>
            </a:p>
          </p:txBody>
        </p:sp>
        <p:sp>
          <p:nvSpPr>
            <p:cNvPr id="25" name="TextBox 25">
              <a:extLst>
                <a:ext uri="{FF2B5EF4-FFF2-40B4-BE49-F238E27FC236}">
                  <a16:creationId xmlns:a16="http://schemas.microsoft.com/office/drawing/2014/main" id="{A0AE446B-7B39-8123-FEC5-4C03BDC5A8BC}"/>
                </a:ext>
              </a:extLst>
            </p:cNvPr>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3D166836-3872-13CD-312A-DFCAF8C0A2E9}"/>
              </a:ext>
            </a:extLst>
          </p:cNvPr>
          <p:cNvGrpSpPr/>
          <p:nvPr/>
        </p:nvGrpSpPr>
        <p:grpSpPr>
          <a:xfrm>
            <a:off x="3019074" y="5401396"/>
            <a:ext cx="4794184" cy="791552"/>
            <a:chOff x="0" y="0"/>
            <a:chExt cx="2860316" cy="381469"/>
          </a:xfrm>
        </p:grpSpPr>
        <p:sp>
          <p:nvSpPr>
            <p:cNvPr id="27" name="Freeform 27">
              <a:extLst>
                <a:ext uri="{FF2B5EF4-FFF2-40B4-BE49-F238E27FC236}">
                  <a16:creationId xmlns:a16="http://schemas.microsoft.com/office/drawing/2014/main" id="{03339527-E3DF-E8BD-DDAA-F2FE5814E3ED}"/>
                </a:ext>
              </a:extLst>
            </p:cNvPr>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txBody>
            <a:bodyPr/>
            <a:lstStyle/>
            <a:p>
              <a:endParaRPr lang="en-US"/>
            </a:p>
          </p:txBody>
        </p:sp>
        <p:sp>
          <p:nvSpPr>
            <p:cNvPr id="28" name="TextBox 28">
              <a:extLst>
                <a:ext uri="{FF2B5EF4-FFF2-40B4-BE49-F238E27FC236}">
                  <a16:creationId xmlns:a16="http://schemas.microsoft.com/office/drawing/2014/main" id="{C12040ED-D3F3-2EA6-A83F-8DCF076570A8}"/>
                </a:ext>
              </a:extLst>
            </p:cNvPr>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9" name="Group 29">
            <a:extLst>
              <a:ext uri="{FF2B5EF4-FFF2-40B4-BE49-F238E27FC236}">
                <a16:creationId xmlns:a16="http://schemas.microsoft.com/office/drawing/2014/main" id="{00D52575-935D-CB3E-292A-3917D93BCFF5}"/>
              </a:ext>
            </a:extLst>
          </p:cNvPr>
          <p:cNvGrpSpPr/>
          <p:nvPr/>
        </p:nvGrpSpPr>
        <p:grpSpPr>
          <a:xfrm>
            <a:off x="10378159" y="5401396"/>
            <a:ext cx="4794184" cy="791552"/>
            <a:chOff x="0" y="0"/>
            <a:chExt cx="2860316" cy="381469"/>
          </a:xfrm>
        </p:grpSpPr>
        <p:sp>
          <p:nvSpPr>
            <p:cNvPr id="30" name="Freeform 30">
              <a:extLst>
                <a:ext uri="{FF2B5EF4-FFF2-40B4-BE49-F238E27FC236}">
                  <a16:creationId xmlns:a16="http://schemas.microsoft.com/office/drawing/2014/main" id="{F86FC8F9-F32F-9066-AE20-E5C7BDE01E20}"/>
                </a:ext>
              </a:extLst>
            </p:cNvPr>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txBody>
            <a:bodyPr/>
            <a:lstStyle/>
            <a:p>
              <a:endParaRPr lang="en-US"/>
            </a:p>
          </p:txBody>
        </p:sp>
        <p:sp>
          <p:nvSpPr>
            <p:cNvPr id="31" name="TextBox 31">
              <a:extLst>
                <a:ext uri="{FF2B5EF4-FFF2-40B4-BE49-F238E27FC236}">
                  <a16:creationId xmlns:a16="http://schemas.microsoft.com/office/drawing/2014/main" id="{20D39A97-F2AE-3DBB-B594-CD0A49C1FF4E}"/>
                </a:ext>
              </a:extLst>
            </p:cNvPr>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sp>
        <p:nvSpPr>
          <p:cNvPr id="32" name="TextBox 32">
            <a:extLst>
              <a:ext uri="{FF2B5EF4-FFF2-40B4-BE49-F238E27FC236}">
                <a16:creationId xmlns:a16="http://schemas.microsoft.com/office/drawing/2014/main" id="{CFB79281-7BF1-2DDF-D4A9-5A34F0AE90BF}"/>
              </a:ext>
            </a:extLst>
          </p:cNvPr>
          <p:cNvSpPr txBox="1"/>
          <p:nvPr/>
        </p:nvSpPr>
        <p:spPr>
          <a:xfrm>
            <a:off x="2551276" y="3344018"/>
            <a:ext cx="5761060" cy="867995"/>
          </a:xfrm>
          <a:prstGeom prst="rect">
            <a:avLst/>
          </a:prstGeom>
        </p:spPr>
        <p:txBody>
          <a:bodyPr lIns="0" tIns="0" rIns="0" bIns="0" rtlCol="0" anchor="t">
            <a:spAutoFit/>
          </a:bodyPr>
          <a:lstStyle/>
          <a:p>
            <a:pPr algn="ctr">
              <a:lnSpc>
                <a:spcPts val="3499"/>
              </a:lnSpc>
            </a:pPr>
            <a:r>
              <a:rPr lang="en-US" sz="2800" dirty="0">
                <a:solidFill>
                  <a:srgbClr val="222366"/>
                </a:solidFill>
                <a:latin typeface="Public Sans"/>
                <a:ea typeface="Public Sans"/>
                <a:cs typeface="Public Sans"/>
                <a:sym typeface="Public Sans"/>
              </a:rPr>
              <a:t>Automate brain tumor detection using CNN.</a:t>
            </a:r>
          </a:p>
        </p:txBody>
      </p:sp>
      <p:sp>
        <p:nvSpPr>
          <p:cNvPr id="33" name="TextBox 33">
            <a:extLst>
              <a:ext uri="{FF2B5EF4-FFF2-40B4-BE49-F238E27FC236}">
                <a16:creationId xmlns:a16="http://schemas.microsoft.com/office/drawing/2014/main" id="{C9D6CD0A-9ADB-5662-08AE-C3C07F6EC719}"/>
              </a:ext>
            </a:extLst>
          </p:cNvPr>
          <p:cNvSpPr txBox="1"/>
          <p:nvPr/>
        </p:nvSpPr>
        <p:spPr>
          <a:xfrm>
            <a:off x="9804027" y="3399948"/>
            <a:ext cx="5761060" cy="419154"/>
          </a:xfrm>
          <a:prstGeom prst="rect">
            <a:avLst/>
          </a:prstGeom>
        </p:spPr>
        <p:txBody>
          <a:bodyPr lIns="0" tIns="0" rIns="0" bIns="0" rtlCol="0" anchor="t">
            <a:spAutoFit/>
          </a:bodyPr>
          <a:lstStyle/>
          <a:p>
            <a:pPr algn="ctr">
              <a:lnSpc>
                <a:spcPts val="3499"/>
              </a:lnSpc>
            </a:pPr>
            <a:r>
              <a:rPr lang="en-US" sz="2800" dirty="0">
                <a:solidFill>
                  <a:srgbClr val="222366"/>
                </a:solidFill>
                <a:latin typeface="Public Sans"/>
                <a:ea typeface="Public Sans"/>
                <a:cs typeface="Public Sans"/>
                <a:sym typeface="Public Sans"/>
              </a:rPr>
              <a:t>Achieve &gt;= 95% accuracy</a:t>
            </a:r>
          </a:p>
        </p:txBody>
      </p:sp>
      <p:sp>
        <p:nvSpPr>
          <p:cNvPr id="34" name="TextBox 34">
            <a:extLst>
              <a:ext uri="{FF2B5EF4-FFF2-40B4-BE49-F238E27FC236}">
                <a16:creationId xmlns:a16="http://schemas.microsoft.com/office/drawing/2014/main" id="{9FB703C3-8A73-932A-1400-00A145888939}"/>
              </a:ext>
            </a:extLst>
          </p:cNvPr>
          <p:cNvSpPr txBox="1"/>
          <p:nvPr/>
        </p:nvSpPr>
        <p:spPr>
          <a:xfrm>
            <a:off x="2549844" y="6673714"/>
            <a:ext cx="5761060" cy="419154"/>
          </a:xfrm>
          <a:prstGeom prst="rect">
            <a:avLst/>
          </a:prstGeom>
        </p:spPr>
        <p:txBody>
          <a:bodyPr lIns="0" tIns="0" rIns="0" bIns="0" rtlCol="0" anchor="t">
            <a:spAutoFit/>
          </a:bodyPr>
          <a:lstStyle/>
          <a:p>
            <a:pPr algn="ctr">
              <a:lnSpc>
                <a:spcPts val="3499"/>
              </a:lnSpc>
            </a:pPr>
            <a:r>
              <a:rPr lang="en-US" sz="2800" dirty="0">
                <a:solidFill>
                  <a:srgbClr val="222366"/>
                </a:solidFill>
                <a:latin typeface="Public Sans"/>
                <a:ea typeface="Public Sans"/>
                <a:cs typeface="Public Sans"/>
                <a:sym typeface="Public Sans"/>
              </a:rPr>
              <a:t>Minimize false positive/negatives. </a:t>
            </a:r>
          </a:p>
        </p:txBody>
      </p:sp>
      <p:sp>
        <p:nvSpPr>
          <p:cNvPr id="35" name="TextBox 35">
            <a:extLst>
              <a:ext uri="{FF2B5EF4-FFF2-40B4-BE49-F238E27FC236}">
                <a16:creationId xmlns:a16="http://schemas.microsoft.com/office/drawing/2014/main" id="{48AD4205-41AE-EA0C-AF20-477475FA3E9F}"/>
              </a:ext>
            </a:extLst>
          </p:cNvPr>
          <p:cNvSpPr txBox="1"/>
          <p:nvPr/>
        </p:nvSpPr>
        <p:spPr>
          <a:xfrm>
            <a:off x="9982958" y="6355550"/>
            <a:ext cx="5761060" cy="867995"/>
          </a:xfrm>
          <a:prstGeom prst="rect">
            <a:avLst/>
          </a:prstGeom>
        </p:spPr>
        <p:txBody>
          <a:bodyPr lIns="0" tIns="0" rIns="0" bIns="0" rtlCol="0" anchor="t">
            <a:spAutoFit/>
          </a:bodyPr>
          <a:lstStyle/>
          <a:p>
            <a:pPr algn="ctr">
              <a:lnSpc>
                <a:spcPts val="3499"/>
              </a:lnSpc>
            </a:pPr>
            <a:r>
              <a:rPr lang="en-US" sz="2800" dirty="0">
                <a:solidFill>
                  <a:srgbClr val="222366"/>
                </a:solidFill>
                <a:latin typeface="Public Sans"/>
                <a:ea typeface="Public Sans"/>
                <a:cs typeface="Public Sans"/>
                <a:sym typeface="Public Sans"/>
              </a:rPr>
              <a:t>Provide simple clinical User Interface (UI)</a:t>
            </a:r>
          </a:p>
        </p:txBody>
      </p:sp>
      <p:sp>
        <p:nvSpPr>
          <p:cNvPr id="36" name="TextBox 36">
            <a:extLst>
              <a:ext uri="{FF2B5EF4-FFF2-40B4-BE49-F238E27FC236}">
                <a16:creationId xmlns:a16="http://schemas.microsoft.com/office/drawing/2014/main" id="{3810D2EA-E731-AD71-1028-ED53958367DD}"/>
              </a:ext>
            </a:extLst>
          </p:cNvPr>
          <p:cNvSpPr txBox="1"/>
          <p:nvPr/>
        </p:nvSpPr>
        <p:spPr>
          <a:xfrm>
            <a:off x="3205543" y="2234846"/>
            <a:ext cx="4514368" cy="457626"/>
          </a:xfrm>
          <a:prstGeom prst="rect">
            <a:avLst/>
          </a:prstGeom>
        </p:spPr>
        <p:txBody>
          <a:bodyPr lIns="0" tIns="0" rIns="0" bIns="0" rtlCol="0" anchor="t">
            <a:spAutoFit/>
          </a:bodyPr>
          <a:lstStyle/>
          <a:p>
            <a:pPr algn="ctr">
              <a:lnSpc>
                <a:spcPts val="3919"/>
              </a:lnSpc>
            </a:pPr>
            <a:r>
              <a:rPr lang="en-US" sz="2799" b="1" dirty="0">
                <a:solidFill>
                  <a:srgbClr val="222366"/>
                </a:solidFill>
                <a:latin typeface="Public Sans Bold"/>
                <a:ea typeface="Public Sans Bold"/>
                <a:cs typeface="Public Sans Bold"/>
                <a:sym typeface="Public Sans Bold"/>
              </a:rPr>
              <a:t>Automation</a:t>
            </a:r>
          </a:p>
        </p:txBody>
      </p:sp>
      <p:sp>
        <p:nvSpPr>
          <p:cNvPr id="37" name="TextBox 37">
            <a:extLst>
              <a:ext uri="{FF2B5EF4-FFF2-40B4-BE49-F238E27FC236}">
                <a16:creationId xmlns:a16="http://schemas.microsoft.com/office/drawing/2014/main" id="{BD11324A-A9E4-558F-D490-CD3B1546C318}"/>
              </a:ext>
            </a:extLst>
          </p:cNvPr>
          <p:cNvSpPr txBox="1"/>
          <p:nvPr/>
        </p:nvSpPr>
        <p:spPr>
          <a:xfrm>
            <a:off x="10428180" y="2221797"/>
            <a:ext cx="4794184" cy="457626"/>
          </a:xfrm>
          <a:prstGeom prst="rect">
            <a:avLst/>
          </a:prstGeom>
        </p:spPr>
        <p:txBody>
          <a:bodyPr wrap="square" lIns="0" tIns="0" rIns="0" bIns="0" rtlCol="0" anchor="t">
            <a:spAutoFit/>
          </a:bodyPr>
          <a:lstStyle/>
          <a:p>
            <a:pPr algn="ctr">
              <a:lnSpc>
                <a:spcPts val="3919"/>
              </a:lnSpc>
            </a:pPr>
            <a:r>
              <a:rPr lang="en-US" sz="2799" b="1" dirty="0">
                <a:solidFill>
                  <a:srgbClr val="222366"/>
                </a:solidFill>
                <a:latin typeface="Public Sans Bold"/>
                <a:ea typeface="Public Sans Bold"/>
                <a:cs typeface="Public Sans Bold"/>
                <a:sym typeface="Public Sans Bold"/>
              </a:rPr>
              <a:t>Accuracy</a:t>
            </a:r>
          </a:p>
        </p:txBody>
      </p:sp>
      <p:sp>
        <p:nvSpPr>
          <p:cNvPr id="38" name="TextBox 38">
            <a:extLst>
              <a:ext uri="{FF2B5EF4-FFF2-40B4-BE49-F238E27FC236}">
                <a16:creationId xmlns:a16="http://schemas.microsoft.com/office/drawing/2014/main" id="{906D66A8-ADBD-3ADB-802A-FB498B54BE45}"/>
              </a:ext>
            </a:extLst>
          </p:cNvPr>
          <p:cNvSpPr txBox="1"/>
          <p:nvPr/>
        </p:nvSpPr>
        <p:spPr>
          <a:xfrm>
            <a:off x="3132151" y="5538580"/>
            <a:ext cx="4514368" cy="457626"/>
          </a:xfrm>
          <a:prstGeom prst="rect">
            <a:avLst/>
          </a:prstGeom>
        </p:spPr>
        <p:txBody>
          <a:bodyPr lIns="0" tIns="0" rIns="0" bIns="0" rtlCol="0" anchor="t">
            <a:spAutoFit/>
          </a:bodyPr>
          <a:lstStyle/>
          <a:p>
            <a:pPr algn="ctr">
              <a:lnSpc>
                <a:spcPts val="3919"/>
              </a:lnSpc>
            </a:pPr>
            <a:r>
              <a:rPr lang="en-US" sz="2799" b="1" dirty="0">
                <a:solidFill>
                  <a:srgbClr val="222366"/>
                </a:solidFill>
                <a:latin typeface="Public Sans Bold"/>
                <a:ea typeface="Public Sans Bold"/>
                <a:cs typeface="Public Sans Bold"/>
                <a:sym typeface="Public Sans Bold"/>
              </a:rPr>
              <a:t>Minimization</a:t>
            </a:r>
          </a:p>
        </p:txBody>
      </p:sp>
      <p:sp>
        <p:nvSpPr>
          <p:cNvPr id="39" name="TextBox 39">
            <a:extLst>
              <a:ext uri="{FF2B5EF4-FFF2-40B4-BE49-F238E27FC236}">
                <a16:creationId xmlns:a16="http://schemas.microsoft.com/office/drawing/2014/main" id="{511A863D-79AF-F135-8682-787B43C61767}"/>
              </a:ext>
            </a:extLst>
          </p:cNvPr>
          <p:cNvSpPr txBox="1"/>
          <p:nvPr/>
        </p:nvSpPr>
        <p:spPr>
          <a:xfrm>
            <a:off x="10641481" y="5538580"/>
            <a:ext cx="4514368" cy="457626"/>
          </a:xfrm>
          <a:prstGeom prst="rect">
            <a:avLst/>
          </a:prstGeom>
        </p:spPr>
        <p:txBody>
          <a:bodyPr lIns="0" tIns="0" rIns="0" bIns="0" rtlCol="0" anchor="t">
            <a:spAutoFit/>
          </a:bodyPr>
          <a:lstStyle/>
          <a:p>
            <a:pPr algn="ctr">
              <a:lnSpc>
                <a:spcPts val="3919"/>
              </a:lnSpc>
            </a:pPr>
            <a:r>
              <a:rPr lang="en-US" sz="2799" b="1" dirty="0">
                <a:solidFill>
                  <a:srgbClr val="222366"/>
                </a:solidFill>
                <a:latin typeface="Public Sans Bold"/>
                <a:ea typeface="Public Sans Bold"/>
                <a:cs typeface="Public Sans Bold"/>
                <a:sym typeface="Public Sans Bold"/>
              </a:rPr>
              <a:t>User Interface</a:t>
            </a:r>
          </a:p>
        </p:txBody>
      </p:sp>
      <p:sp>
        <p:nvSpPr>
          <p:cNvPr id="40" name="TextBox 40">
            <a:extLst>
              <a:ext uri="{FF2B5EF4-FFF2-40B4-BE49-F238E27FC236}">
                <a16:creationId xmlns:a16="http://schemas.microsoft.com/office/drawing/2014/main" id="{591BE02B-356A-5CAD-3BFA-4669C456DBED}"/>
              </a:ext>
            </a:extLst>
          </p:cNvPr>
          <p:cNvSpPr txBox="1"/>
          <p:nvPr/>
        </p:nvSpPr>
        <p:spPr>
          <a:xfrm>
            <a:off x="1752600" y="485049"/>
            <a:ext cx="14763189" cy="1011367"/>
          </a:xfrm>
          <a:prstGeom prst="rect">
            <a:avLst/>
          </a:prstGeom>
        </p:spPr>
        <p:txBody>
          <a:bodyPr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OBJECTIVES</a:t>
            </a:r>
          </a:p>
        </p:txBody>
      </p:sp>
    </p:spTree>
    <p:extLst>
      <p:ext uri="{BB962C8B-B14F-4D97-AF65-F5344CB8AC3E}">
        <p14:creationId xmlns:p14="http://schemas.microsoft.com/office/powerpoint/2010/main" val="18376915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488696" y="364688"/>
            <a:ext cx="17310608" cy="9505931"/>
            <a:chOff x="0" y="0"/>
            <a:chExt cx="774713" cy="425425"/>
          </a:xfrm>
        </p:grpSpPr>
        <p:sp>
          <p:nvSpPr>
            <p:cNvPr id="5" name="Freeform 5"/>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dirty="0"/>
            </a:p>
          </p:txBody>
        </p:sp>
        <p:sp>
          <p:nvSpPr>
            <p:cNvPr id="6" name="TextBox 6"/>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p:cNvSpPr txBox="1"/>
          <p:nvPr/>
        </p:nvSpPr>
        <p:spPr>
          <a:xfrm>
            <a:off x="4120702" y="2902534"/>
            <a:ext cx="9500068" cy="4488408"/>
          </a:xfrm>
          <a:prstGeom prst="rect">
            <a:avLst/>
          </a:prstGeom>
        </p:spPr>
        <p:txBody>
          <a:bodyPr lIns="0" tIns="0" rIns="0" bIns="0" rtlCol="0" anchor="t">
            <a:spAutoFit/>
          </a:bodyPr>
          <a:lstStyle/>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MRI brain scans collected from Kaggle medical imaging datasets. </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Binary classification: Tumor vs No Tumor </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Preprocessing pipeline ensures consistent input quality.</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Tools used: TensorFlow, </a:t>
            </a:r>
            <a:r>
              <a:rPr lang="en-US" sz="3200" b="1" dirty="0" err="1">
                <a:solidFill>
                  <a:srgbClr val="222366"/>
                </a:solidFill>
                <a:latin typeface="Public Sans"/>
                <a:ea typeface="Public Sans"/>
                <a:cs typeface="Public Sans"/>
                <a:sym typeface="Public Sans"/>
              </a:rPr>
              <a:t>Keras</a:t>
            </a:r>
            <a:r>
              <a:rPr lang="en-US" sz="3200" b="1" dirty="0">
                <a:solidFill>
                  <a:srgbClr val="222366"/>
                </a:solidFill>
                <a:latin typeface="Public Sans"/>
                <a:ea typeface="Public Sans"/>
                <a:cs typeface="Public Sans"/>
                <a:sym typeface="Public Sans"/>
              </a:rPr>
              <a:t>, OpenCV, </a:t>
            </a:r>
            <a:r>
              <a:rPr lang="en-US" sz="3200" b="1" dirty="0" err="1">
                <a:solidFill>
                  <a:srgbClr val="222366"/>
                </a:solidFill>
                <a:latin typeface="Public Sans"/>
                <a:ea typeface="Public Sans"/>
                <a:cs typeface="Public Sans"/>
                <a:sym typeface="Public Sans"/>
              </a:rPr>
              <a:t>Streamlit</a:t>
            </a:r>
            <a:endParaRPr lang="en-US" sz="3200" b="1" dirty="0">
              <a:solidFill>
                <a:srgbClr val="222366"/>
              </a:solidFill>
              <a:latin typeface="Public Sans"/>
              <a:ea typeface="Public Sans"/>
              <a:cs typeface="Public Sans"/>
              <a:sym typeface="Public Sans"/>
            </a:endParaRPr>
          </a:p>
        </p:txBody>
      </p:sp>
      <p:sp>
        <p:nvSpPr>
          <p:cNvPr id="14" name="TextBox 14"/>
          <p:cNvSpPr txBox="1"/>
          <p:nvPr/>
        </p:nvSpPr>
        <p:spPr>
          <a:xfrm>
            <a:off x="2806273" y="651935"/>
            <a:ext cx="12128927" cy="1011367"/>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Dataset &amp; Tools </a:t>
            </a:r>
          </a:p>
        </p:txBody>
      </p:sp>
      <p:sp>
        <p:nvSpPr>
          <p:cNvPr id="18" name="Freeform 14">
            <a:extLst>
              <a:ext uri="{FF2B5EF4-FFF2-40B4-BE49-F238E27FC236}">
                <a16:creationId xmlns:a16="http://schemas.microsoft.com/office/drawing/2014/main" id="{32D7736F-A6E3-99C9-2D30-5E4D0C5F0694}"/>
              </a:ext>
            </a:extLst>
          </p:cNvPr>
          <p:cNvSpPr/>
          <p:nvPr/>
        </p:nvSpPr>
        <p:spPr>
          <a:xfrm>
            <a:off x="13335000" y="3608860"/>
            <a:ext cx="4182010" cy="7261880"/>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A99C-230D-432A-0099-568EAF4CF9E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3697F4D-A763-928D-DC71-CD1A0822B0FA}"/>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FF751017-EE65-053F-92C7-CFD8DEDC9881}"/>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6F45D0E2-B329-327B-A520-71FE25B583C8}"/>
              </a:ext>
            </a:extLst>
          </p:cNvPr>
          <p:cNvGrpSpPr/>
          <p:nvPr/>
        </p:nvGrpSpPr>
        <p:grpSpPr>
          <a:xfrm>
            <a:off x="488696" y="364688"/>
            <a:ext cx="17310608" cy="9505931"/>
            <a:chOff x="0" y="0"/>
            <a:chExt cx="774713" cy="425425"/>
          </a:xfrm>
        </p:grpSpPr>
        <p:sp>
          <p:nvSpPr>
            <p:cNvPr id="5" name="Freeform 5">
              <a:extLst>
                <a:ext uri="{FF2B5EF4-FFF2-40B4-BE49-F238E27FC236}">
                  <a16:creationId xmlns:a16="http://schemas.microsoft.com/office/drawing/2014/main" id="{F61E6995-2D13-DD58-8DE7-1684EE73068D}"/>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a:p>
          </p:txBody>
        </p:sp>
        <p:sp>
          <p:nvSpPr>
            <p:cNvPr id="6" name="TextBox 6">
              <a:extLst>
                <a:ext uri="{FF2B5EF4-FFF2-40B4-BE49-F238E27FC236}">
                  <a16:creationId xmlns:a16="http://schemas.microsoft.com/office/drawing/2014/main" id="{EB3D28B9-D9FC-1A12-7DE0-A302A484D5EE}"/>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C19753E-087B-32A1-B9AB-C784F115628E}"/>
              </a:ext>
            </a:extLst>
          </p:cNvPr>
          <p:cNvSpPr/>
          <p:nvPr/>
        </p:nvSpPr>
        <p:spPr>
          <a:xfrm>
            <a:off x="12876354" y="2858030"/>
            <a:ext cx="5689285" cy="7379969"/>
          </a:xfrm>
          <a:custGeom>
            <a:avLst/>
            <a:gdLst/>
            <a:ahLst/>
            <a:cxnLst/>
            <a:rect l="l" t="t" r="r" b="b"/>
            <a:pathLst>
              <a:path w="5689285" h="7379969">
                <a:moveTo>
                  <a:pt x="0" y="0"/>
                </a:moveTo>
                <a:lnTo>
                  <a:pt x="5689285" y="0"/>
                </a:lnTo>
                <a:lnTo>
                  <a:pt x="5689285" y="7379968"/>
                </a:lnTo>
                <a:lnTo>
                  <a:pt x="0" y="73799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11A637C5-F7FA-0D9C-0DF5-344DE97FE1D3}"/>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4F847A26-D8BA-5E7E-6F66-2062C1056CAB}"/>
              </a:ext>
            </a:extLst>
          </p:cNvPr>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588B4DBA-3215-DC8E-17FD-BC647C050B90}"/>
              </a:ext>
            </a:extLst>
          </p:cNvPr>
          <p:cNvSpPr txBox="1"/>
          <p:nvPr/>
        </p:nvSpPr>
        <p:spPr>
          <a:xfrm>
            <a:off x="3387425" y="3137296"/>
            <a:ext cx="9843826" cy="4488408"/>
          </a:xfrm>
          <a:prstGeom prst="rect">
            <a:avLst/>
          </a:prstGeom>
        </p:spPr>
        <p:txBody>
          <a:bodyPr wrap="square" lIns="0" tIns="0" rIns="0" bIns="0" rtlCol="0" anchor="t">
            <a:spAutoFit/>
          </a:bodyPr>
          <a:lstStyle/>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Converts MRI scans to consistent 50x50 resolution. </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Apply Gaussian filtering for noise reduction.</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Normalize pixel values to stabilize training. </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Crop brain region using contour detection.</a:t>
            </a:r>
          </a:p>
          <a:p>
            <a:pPr marL="457200" indent="-457200">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Remove background artifacts for cleaner input </a:t>
            </a:r>
          </a:p>
        </p:txBody>
      </p:sp>
      <p:sp>
        <p:nvSpPr>
          <p:cNvPr id="14" name="TextBox 14">
            <a:extLst>
              <a:ext uri="{FF2B5EF4-FFF2-40B4-BE49-F238E27FC236}">
                <a16:creationId xmlns:a16="http://schemas.microsoft.com/office/drawing/2014/main" id="{9669D077-6019-33CF-4602-7DA64139616B}"/>
              </a:ext>
            </a:extLst>
          </p:cNvPr>
          <p:cNvSpPr txBox="1"/>
          <p:nvPr/>
        </p:nvSpPr>
        <p:spPr>
          <a:xfrm>
            <a:off x="2717010" y="496143"/>
            <a:ext cx="12128927" cy="1011367"/>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Preprocessing</a:t>
            </a:r>
          </a:p>
        </p:txBody>
      </p:sp>
    </p:spTree>
    <p:extLst>
      <p:ext uri="{BB962C8B-B14F-4D97-AF65-F5344CB8AC3E}">
        <p14:creationId xmlns:p14="http://schemas.microsoft.com/office/powerpoint/2010/main" val="164045446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3721612" y="340970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p:cNvSpPr/>
          <p:nvPr/>
        </p:nvSpPr>
        <p:spPr>
          <a:xfrm>
            <a:off x="9847924" y="-182599"/>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700522" y="1153874"/>
            <a:ext cx="5694209" cy="8280195"/>
            <a:chOff x="0" y="0"/>
            <a:chExt cx="812800" cy="1181928"/>
          </a:xfrm>
        </p:grpSpPr>
        <p:sp>
          <p:nvSpPr>
            <p:cNvPr id="5" name="Freeform 5"/>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txBody>
            <a:bodyPr/>
            <a:lstStyle/>
            <a:p>
              <a:endParaRPr lang="en-US"/>
            </a:p>
          </p:txBody>
        </p:sp>
        <p:sp>
          <p:nvSpPr>
            <p:cNvPr id="6" name="TextBox 6"/>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3557573" y="3565189"/>
            <a:ext cx="6978906" cy="7726439"/>
          </a:xfrm>
          <a:custGeom>
            <a:avLst/>
            <a:gdLst/>
            <a:ahLst/>
            <a:cxnLst/>
            <a:rect l="l" t="t" r="r" b="b"/>
            <a:pathLst>
              <a:path w="6410088" h="6901845">
                <a:moveTo>
                  <a:pt x="0" y="0"/>
                </a:moveTo>
                <a:lnTo>
                  <a:pt x="6410088" y="0"/>
                </a:lnTo>
                <a:lnTo>
                  <a:pt x="6410088" y="6901845"/>
                </a:lnTo>
                <a:lnTo>
                  <a:pt x="0" y="69018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0706273" y="1117205"/>
            <a:ext cx="5688458" cy="419154"/>
          </a:xfrm>
          <a:prstGeom prst="rect">
            <a:avLst/>
          </a:prstGeom>
        </p:spPr>
        <p:txBody>
          <a:bodyPr wrap="square" lIns="0" tIns="0" rIns="0" bIns="0" rtlCol="0" anchor="t">
            <a:spAutoFit/>
          </a:bodyPr>
          <a:lstStyle/>
          <a:p>
            <a:pPr algn="just">
              <a:lnSpc>
                <a:spcPts val="3499"/>
              </a:lnSpc>
            </a:pPr>
            <a:endParaRPr lang="en-US" sz="2800" dirty="0">
              <a:solidFill>
                <a:srgbClr val="222366"/>
              </a:solidFill>
              <a:latin typeface="Public Sans"/>
              <a:ea typeface="Public Sans"/>
              <a:cs typeface="Public Sans"/>
              <a:sym typeface="Public Sans"/>
            </a:endParaRPr>
          </a:p>
        </p:txBody>
      </p:sp>
      <p:sp>
        <p:nvSpPr>
          <p:cNvPr id="12" name="TextBox 12"/>
          <p:cNvSpPr txBox="1"/>
          <p:nvPr/>
        </p:nvSpPr>
        <p:spPr>
          <a:xfrm>
            <a:off x="635137" y="460110"/>
            <a:ext cx="6172949" cy="2529282"/>
          </a:xfrm>
          <a:prstGeom prst="rect">
            <a:avLst/>
          </a:prstGeom>
        </p:spPr>
        <p:txBody>
          <a:bodyPr lIns="0" tIns="0" rIns="0" bIns="0" rtlCol="0" anchor="t">
            <a:spAutoFit/>
          </a:bodyPr>
          <a:lstStyle/>
          <a:p>
            <a:pPr algn="l">
              <a:lnSpc>
                <a:spcPts val="10500"/>
              </a:lnSpc>
            </a:pPr>
            <a:r>
              <a:rPr lang="en-US" sz="6600" dirty="0">
                <a:solidFill>
                  <a:srgbClr val="222366"/>
                </a:solidFill>
                <a:latin typeface="Brick Sans"/>
                <a:ea typeface="Brick Sans"/>
                <a:cs typeface="Brick Sans"/>
                <a:sym typeface="Brick Sans"/>
              </a:rPr>
              <a:t>Data-Flow Diagram</a:t>
            </a:r>
          </a:p>
        </p:txBody>
      </p:sp>
      <p:sp>
        <p:nvSpPr>
          <p:cNvPr id="13" name="Freeform 8">
            <a:extLst>
              <a:ext uri="{FF2B5EF4-FFF2-40B4-BE49-F238E27FC236}">
                <a16:creationId xmlns:a16="http://schemas.microsoft.com/office/drawing/2014/main" id="{76611F72-07F9-E863-BF68-022F79934AA1}"/>
              </a:ext>
            </a:extLst>
          </p:cNvPr>
          <p:cNvSpPr/>
          <p:nvPr/>
        </p:nvSpPr>
        <p:spPr>
          <a:xfrm rot="20351430">
            <a:off x="836864" y="5296405"/>
            <a:ext cx="2683021" cy="3953040"/>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0" name="Picture 9">
            <a:extLst>
              <a:ext uri="{FF2B5EF4-FFF2-40B4-BE49-F238E27FC236}">
                <a16:creationId xmlns:a16="http://schemas.microsoft.com/office/drawing/2014/main" id="{C9E074ED-5B9F-4102-C730-3E30B08F356C}"/>
              </a:ext>
            </a:extLst>
          </p:cNvPr>
          <p:cNvPicPr>
            <a:picLocks noChangeAspect="1"/>
          </p:cNvPicPr>
          <p:nvPr/>
        </p:nvPicPr>
        <p:blipFill>
          <a:blip r:embed="rId6"/>
          <a:srcRect t="7268" b="9093"/>
          <a:stretch>
            <a:fillRect/>
          </a:stretch>
        </p:blipFill>
        <p:spPr>
          <a:xfrm>
            <a:off x="10493275" y="1126652"/>
            <a:ext cx="6108700" cy="916034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23818-85B7-3854-6154-0B684A3D215B}"/>
            </a:ext>
          </a:extLst>
        </p:cNvPr>
        <p:cNvGrpSpPr/>
        <p:nvPr/>
      </p:nvGrpSpPr>
      <p:grpSpPr>
        <a:xfrm>
          <a:off x="0" y="0"/>
          <a:ext cx="0" cy="0"/>
          <a:chOff x="0" y="0"/>
          <a:chExt cx="0" cy="0"/>
        </a:xfrm>
      </p:grpSpPr>
      <p:sp>
        <p:nvSpPr>
          <p:cNvPr id="3" name="Freeform 14">
            <a:extLst>
              <a:ext uri="{FF2B5EF4-FFF2-40B4-BE49-F238E27FC236}">
                <a16:creationId xmlns:a16="http://schemas.microsoft.com/office/drawing/2014/main" id="{530AFD5D-E492-FB7D-8A6A-5EB42D8C5AC2}"/>
              </a:ext>
            </a:extLst>
          </p:cNvPr>
          <p:cNvSpPr/>
          <p:nvPr/>
        </p:nvSpPr>
        <p:spPr>
          <a:xfrm rot="20351430">
            <a:off x="16571825" y="-241963"/>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2">
            <a:extLst>
              <a:ext uri="{FF2B5EF4-FFF2-40B4-BE49-F238E27FC236}">
                <a16:creationId xmlns:a16="http://schemas.microsoft.com/office/drawing/2014/main" id="{AB559CF1-5F16-FE62-0EB7-02D37220EB1D}"/>
              </a:ext>
            </a:extLst>
          </p:cNvPr>
          <p:cNvSpPr/>
          <p:nvPr/>
        </p:nvSpPr>
        <p:spPr>
          <a:xfrm>
            <a:off x="-1163445"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19">
            <a:extLst>
              <a:ext uri="{FF2B5EF4-FFF2-40B4-BE49-F238E27FC236}">
                <a16:creationId xmlns:a16="http://schemas.microsoft.com/office/drawing/2014/main" id="{70BB14C0-7AF6-98E6-36D3-C84024AEB4B6}"/>
              </a:ext>
            </a:extLst>
          </p:cNvPr>
          <p:cNvSpPr txBox="1"/>
          <p:nvPr/>
        </p:nvSpPr>
        <p:spPr>
          <a:xfrm>
            <a:off x="2362200" y="184990"/>
            <a:ext cx="12877800" cy="1182760"/>
          </a:xfrm>
          <a:prstGeom prst="rect">
            <a:avLst/>
          </a:prstGeom>
        </p:spPr>
        <p:txBody>
          <a:bodyPr wrap="square" lIns="0" tIns="0" rIns="0" bIns="0" rtlCol="0" anchor="t">
            <a:spAutoFit/>
          </a:bodyPr>
          <a:lstStyle/>
          <a:p>
            <a:pPr algn="ctr">
              <a:lnSpc>
                <a:spcPts val="10500"/>
              </a:lnSpc>
            </a:pPr>
            <a:r>
              <a:rPr lang="en-US" sz="6600" dirty="0">
                <a:solidFill>
                  <a:srgbClr val="222366"/>
                </a:solidFill>
                <a:latin typeface="Brick Sans"/>
                <a:ea typeface="Brick Sans"/>
                <a:cs typeface="Brick Sans"/>
                <a:sym typeface="Brick Sans"/>
              </a:rPr>
              <a:t>System Architecture</a:t>
            </a:r>
          </a:p>
        </p:txBody>
      </p:sp>
      <p:sp>
        <p:nvSpPr>
          <p:cNvPr id="7" name="Freeform 2">
            <a:extLst>
              <a:ext uri="{FF2B5EF4-FFF2-40B4-BE49-F238E27FC236}">
                <a16:creationId xmlns:a16="http://schemas.microsoft.com/office/drawing/2014/main" id="{FE06CA81-B947-27C1-B0A0-F5963AAB068D}"/>
              </a:ext>
            </a:extLst>
          </p:cNvPr>
          <p:cNvSpPr/>
          <p:nvPr/>
        </p:nvSpPr>
        <p:spPr>
          <a:xfrm>
            <a:off x="12954000" y="3991064"/>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10">
            <a:extLst>
              <a:ext uri="{FF2B5EF4-FFF2-40B4-BE49-F238E27FC236}">
                <a16:creationId xmlns:a16="http://schemas.microsoft.com/office/drawing/2014/main" id="{0042A212-7EFD-AFE0-A2E7-592825FF5613}"/>
              </a:ext>
            </a:extLst>
          </p:cNvPr>
          <p:cNvSpPr/>
          <p:nvPr/>
        </p:nvSpPr>
        <p:spPr>
          <a:xfrm>
            <a:off x="-430634" y="5276224"/>
            <a:ext cx="3814457" cy="5060639"/>
          </a:xfrm>
          <a:custGeom>
            <a:avLst/>
            <a:gdLst/>
            <a:ahLst/>
            <a:cxnLst/>
            <a:rect l="l" t="t" r="r" b="b"/>
            <a:pathLst>
              <a:path w="3814457" h="5060639">
                <a:moveTo>
                  <a:pt x="0" y="0"/>
                </a:moveTo>
                <a:lnTo>
                  <a:pt x="3814457" y="0"/>
                </a:lnTo>
                <a:lnTo>
                  <a:pt x="3814457" y="5060640"/>
                </a:lnTo>
                <a:lnTo>
                  <a:pt x="0" y="50606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14">
            <a:extLst>
              <a:ext uri="{FF2B5EF4-FFF2-40B4-BE49-F238E27FC236}">
                <a16:creationId xmlns:a16="http://schemas.microsoft.com/office/drawing/2014/main" id="{A62DA3C6-4543-34F0-F758-C528D6986429}"/>
              </a:ext>
            </a:extLst>
          </p:cNvPr>
          <p:cNvSpPr/>
          <p:nvPr/>
        </p:nvSpPr>
        <p:spPr>
          <a:xfrm>
            <a:off x="15164645" y="5308633"/>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5" name="Picture 4">
            <a:extLst>
              <a:ext uri="{FF2B5EF4-FFF2-40B4-BE49-F238E27FC236}">
                <a16:creationId xmlns:a16="http://schemas.microsoft.com/office/drawing/2014/main" id="{4D62D38E-95D2-A6D9-3157-AC889ACAD53B}"/>
              </a:ext>
            </a:extLst>
          </p:cNvPr>
          <p:cNvPicPr>
            <a:picLocks noChangeAspect="1"/>
          </p:cNvPicPr>
          <p:nvPr/>
        </p:nvPicPr>
        <p:blipFill>
          <a:blip r:embed="rId6"/>
          <a:srcRect b="4916"/>
          <a:stretch>
            <a:fillRect/>
          </a:stretch>
        </p:blipFill>
        <p:spPr>
          <a:xfrm>
            <a:off x="3383823" y="1660532"/>
            <a:ext cx="11246577" cy="7369168"/>
          </a:xfrm>
          <a:prstGeom prst="rect">
            <a:avLst/>
          </a:prstGeom>
        </p:spPr>
      </p:pic>
    </p:spTree>
    <p:extLst>
      <p:ext uri="{BB962C8B-B14F-4D97-AF65-F5344CB8AC3E}">
        <p14:creationId xmlns:p14="http://schemas.microsoft.com/office/powerpoint/2010/main" val="28143346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63445"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222364" y="180808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p:cNvSpPr/>
          <p:nvPr/>
        </p:nvSpPr>
        <p:spPr>
          <a:xfrm rot="-1793077">
            <a:off x="16507575" y="5105478"/>
            <a:ext cx="2859370" cy="3981402"/>
          </a:xfrm>
          <a:custGeom>
            <a:avLst/>
            <a:gdLst/>
            <a:ahLst/>
            <a:cxnLst/>
            <a:rect l="l" t="t" r="r" b="b"/>
            <a:pathLst>
              <a:path w="2859370" h="3981402">
                <a:moveTo>
                  <a:pt x="0" y="0"/>
                </a:moveTo>
                <a:lnTo>
                  <a:pt x="2859370" y="0"/>
                </a:lnTo>
                <a:lnTo>
                  <a:pt x="2859370" y="3981402"/>
                </a:lnTo>
                <a:lnTo>
                  <a:pt x="0" y="39814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rot="855077">
            <a:off x="-518506" y="5234288"/>
            <a:ext cx="2752419" cy="3173649"/>
          </a:xfrm>
          <a:custGeom>
            <a:avLst/>
            <a:gdLst/>
            <a:ahLst/>
            <a:cxnLst/>
            <a:rect l="l" t="t" r="r" b="b"/>
            <a:pathLst>
              <a:path w="2752419" h="3173649">
                <a:moveTo>
                  <a:pt x="0" y="0"/>
                </a:moveTo>
                <a:lnTo>
                  <a:pt x="2752419" y="0"/>
                </a:lnTo>
                <a:lnTo>
                  <a:pt x="2752419" y="3173649"/>
                </a:lnTo>
                <a:lnTo>
                  <a:pt x="0" y="31736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rot="-137149">
            <a:off x="17236257" y="260001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rot="-137149">
            <a:off x="885105" y="92857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0" name="TextBox 40"/>
          <p:cNvSpPr txBox="1"/>
          <p:nvPr/>
        </p:nvSpPr>
        <p:spPr>
          <a:xfrm>
            <a:off x="1603361" y="173129"/>
            <a:ext cx="14763189" cy="1011367"/>
          </a:xfrm>
          <a:prstGeom prst="rect">
            <a:avLst/>
          </a:prstGeom>
        </p:spPr>
        <p:txBody>
          <a:bodyPr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System Workflow</a:t>
            </a:r>
          </a:p>
        </p:txBody>
      </p:sp>
      <p:pic>
        <p:nvPicPr>
          <p:cNvPr id="41" name="Picture 40">
            <a:extLst>
              <a:ext uri="{FF2B5EF4-FFF2-40B4-BE49-F238E27FC236}">
                <a16:creationId xmlns:a16="http://schemas.microsoft.com/office/drawing/2014/main" id="{39B45619-C9F4-6B80-5382-BEA3E9F7DAF3}"/>
              </a:ext>
            </a:extLst>
          </p:cNvPr>
          <p:cNvPicPr>
            <a:picLocks noChangeAspect="1"/>
          </p:cNvPicPr>
          <p:nvPr/>
        </p:nvPicPr>
        <p:blipFill>
          <a:blip r:embed="rId6"/>
          <a:srcRect t="16727" b="18162"/>
          <a:stretch>
            <a:fillRect/>
          </a:stretch>
        </p:blipFill>
        <p:spPr>
          <a:xfrm>
            <a:off x="2237496" y="2323407"/>
            <a:ext cx="13565777" cy="570795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63445"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862576" y="1464226"/>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0411095" y="2452589"/>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rot="-1257881">
            <a:off x="-708787" y="4108815"/>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rot="-137149">
            <a:off x="9171401" y="37016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7"/>
          <p:cNvSpPr txBox="1"/>
          <p:nvPr/>
        </p:nvSpPr>
        <p:spPr>
          <a:xfrm>
            <a:off x="457200" y="305295"/>
            <a:ext cx="17602200" cy="1115434"/>
          </a:xfrm>
          <a:prstGeom prst="rect">
            <a:avLst/>
          </a:prstGeom>
        </p:spPr>
        <p:txBody>
          <a:bodyPr wrap="square" lIns="0" tIns="0" rIns="0" bIns="0" rtlCol="0" anchor="t">
            <a:spAutoFit/>
          </a:bodyPr>
          <a:lstStyle/>
          <a:p>
            <a:pPr algn="ctr">
              <a:lnSpc>
                <a:spcPts val="9799"/>
              </a:lnSpc>
            </a:pPr>
            <a:r>
              <a:rPr lang="en-US" sz="6600" dirty="0">
                <a:solidFill>
                  <a:srgbClr val="222366"/>
                </a:solidFill>
                <a:latin typeface="Brick Sans"/>
                <a:ea typeface="Brick Sans"/>
                <a:cs typeface="Brick Sans"/>
                <a:sym typeface="Brick Sans"/>
              </a:rPr>
              <a:t>CNN Architecture (Layer Table)</a:t>
            </a:r>
          </a:p>
        </p:txBody>
      </p:sp>
      <p:pic>
        <p:nvPicPr>
          <p:cNvPr id="19" name="Picture 18">
            <a:extLst>
              <a:ext uri="{FF2B5EF4-FFF2-40B4-BE49-F238E27FC236}">
                <a16:creationId xmlns:a16="http://schemas.microsoft.com/office/drawing/2014/main" id="{15AD547B-2F81-CDD9-A795-01E3FB2E67CE}"/>
              </a:ext>
            </a:extLst>
          </p:cNvPr>
          <p:cNvPicPr>
            <a:picLocks noChangeAspect="1"/>
          </p:cNvPicPr>
          <p:nvPr/>
        </p:nvPicPr>
        <p:blipFill>
          <a:blip r:embed="rId6"/>
          <a:stretch>
            <a:fillRect/>
          </a:stretch>
        </p:blipFill>
        <p:spPr>
          <a:xfrm>
            <a:off x="5562600" y="3053885"/>
            <a:ext cx="5943600" cy="7233115"/>
          </a:xfrm>
          <a:prstGeom prst="rect">
            <a:avLst/>
          </a:prstGeom>
        </p:spPr>
      </p:pic>
      <p:sp>
        <p:nvSpPr>
          <p:cNvPr id="20" name="Freeform 13">
            <a:extLst>
              <a:ext uri="{FF2B5EF4-FFF2-40B4-BE49-F238E27FC236}">
                <a16:creationId xmlns:a16="http://schemas.microsoft.com/office/drawing/2014/main" id="{DC8591DA-97E6-B289-6E9B-ED88D7AEA107}"/>
              </a:ext>
            </a:extLst>
          </p:cNvPr>
          <p:cNvSpPr/>
          <p:nvPr/>
        </p:nvSpPr>
        <p:spPr>
          <a:xfrm flipH="1">
            <a:off x="13936738" y="3467101"/>
            <a:ext cx="5406169" cy="6819900"/>
          </a:xfrm>
          <a:custGeom>
            <a:avLst/>
            <a:gdLst/>
            <a:ahLst/>
            <a:cxnLst/>
            <a:rect l="l" t="t" r="r" b="b"/>
            <a:pathLst>
              <a:path w="4752275" h="6304842">
                <a:moveTo>
                  <a:pt x="4752275" y="0"/>
                </a:moveTo>
                <a:lnTo>
                  <a:pt x="0" y="0"/>
                </a:lnTo>
                <a:lnTo>
                  <a:pt x="0" y="6304842"/>
                </a:lnTo>
                <a:lnTo>
                  <a:pt x="4752275" y="6304842"/>
                </a:lnTo>
                <a:lnTo>
                  <a:pt x="4752275"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05FC8-F04F-E991-6391-3BE2166917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52CA56-471E-C0D2-0D7E-0E9A1F030976}"/>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33D2C55E-0259-AB98-CE48-BC23F63F1116}"/>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701F15D9-6C64-FA01-F850-C07C37F44773}"/>
              </a:ext>
            </a:extLst>
          </p:cNvPr>
          <p:cNvGrpSpPr/>
          <p:nvPr/>
        </p:nvGrpSpPr>
        <p:grpSpPr>
          <a:xfrm>
            <a:off x="488696" y="364688"/>
            <a:ext cx="17310608" cy="9505931"/>
            <a:chOff x="0" y="0"/>
            <a:chExt cx="774713" cy="425425"/>
          </a:xfrm>
        </p:grpSpPr>
        <p:sp>
          <p:nvSpPr>
            <p:cNvPr id="5" name="Freeform 5">
              <a:extLst>
                <a:ext uri="{FF2B5EF4-FFF2-40B4-BE49-F238E27FC236}">
                  <a16:creationId xmlns:a16="http://schemas.microsoft.com/office/drawing/2014/main" id="{9D7E4C49-AFBB-F9B7-2749-543756F87443}"/>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a:p>
          </p:txBody>
        </p:sp>
        <p:sp>
          <p:nvSpPr>
            <p:cNvPr id="6" name="TextBox 6">
              <a:extLst>
                <a:ext uri="{FF2B5EF4-FFF2-40B4-BE49-F238E27FC236}">
                  <a16:creationId xmlns:a16="http://schemas.microsoft.com/office/drawing/2014/main" id="{7C6BE381-0A27-69AE-7548-B5BA6A124503}"/>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9B34527-DDED-5B4A-E5F3-C3B82A394526}"/>
              </a:ext>
            </a:extLst>
          </p:cNvPr>
          <p:cNvSpPr/>
          <p:nvPr/>
        </p:nvSpPr>
        <p:spPr>
          <a:xfrm>
            <a:off x="12876354" y="2858030"/>
            <a:ext cx="5689285" cy="7379969"/>
          </a:xfrm>
          <a:custGeom>
            <a:avLst/>
            <a:gdLst/>
            <a:ahLst/>
            <a:cxnLst/>
            <a:rect l="l" t="t" r="r" b="b"/>
            <a:pathLst>
              <a:path w="5689285" h="7379969">
                <a:moveTo>
                  <a:pt x="0" y="0"/>
                </a:moveTo>
                <a:lnTo>
                  <a:pt x="5689285" y="0"/>
                </a:lnTo>
                <a:lnTo>
                  <a:pt x="5689285" y="7379968"/>
                </a:lnTo>
                <a:lnTo>
                  <a:pt x="0" y="73799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F4F4FA8A-E3AD-BE4D-B100-1E7C84FB0656}"/>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67E2DABC-6860-186A-4849-6F194A8E7987}"/>
              </a:ext>
            </a:extLst>
          </p:cNvPr>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6B6070EC-465B-4DB6-C9E0-849F82A1AF41}"/>
              </a:ext>
            </a:extLst>
          </p:cNvPr>
          <p:cNvSpPr txBox="1"/>
          <p:nvPr/>
        </p:nvSpPr>
        <p:spPr>
          <a:xfrm>
            <a:off x="3013589" y="2385214"/>
            <a:ext cx="9843826" cy="4937249"/>
          </a:xfrm>
          <a:prstGeom prst="rect">
            <a:avLst/>
          </a:prstGeom>
        </p:spPr>
        <p:txBody>
          <a:bodyPr wrap="square" lIns="0" tIns="0" rIns="0" bIns="0" rtlCol="0" anchor="t">
            <a:spAutoFit/>
          </a:bodyPr>
          <a:lstStyle/>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Loss: Binary Cross-Entropy.</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Optimizer: Adam/ </a:t>
            </a:r>
            <a:r>
              <a:rPr lang="en-US" sz="3200" b="1" dirty="0" err="1">
                <a:solidFill>
                  <a:srgbClr val="222366"/>
                </a:solidFill>
                <a:latin typeface="Public Sans"/>
                <a:ea typeface="Public Sans"/>
                <a:cs typeface="Public Sans"/>
                <a:sym typeface="Public Sans"/>
              </a:rPr>
              <a:t>AdamW</a:t>
            </a:r>
            <a:r>
              <a:rPr lang="en-US" sz="3200" b="1" dirty="0">
                <a:solidFill>
                  <a:srgbClr val="222366"/>
                </a:solidFill>
                <a:latin typeface="Public Sans"/>
                <a:ea typeface="Public Sans"/>
                <a:cs typeface="Public Sans"/>
                <a:sym typeface="Public Sans"/>
              </a:rPr>
              <a:t> (Adaptive learning).</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Regularization: Dropout + L2.</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Early Stopping prevents overfitting.</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Learning Rate Scheduling improves convergence.</a:t>
            </a:r>
          </a:p>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a:p>
            <a:pPr marL="457200" indent="-457200" algn="l">
              <a:lnSpc>
                <a:spcPts val="3499"/>
              </a:lnSpc>
              <a:buFont typeface="Arial" panose="020B0604020202020204" pitchFamily="34" charset="0"/>
              <a:buChar char="•"/>
            </a:pPr>
            <a:r>
              <a:rPr lang="en-US" sz="3200" b="1" dirty="0">
                <a:solidFill>
                  <a:srgbClr val="222366"/>
                </a:solidFill>
                <a:latin typeface="Public Sans"/>
                <a:ea typeface="Public Sans"/>
                <a:cs typeface="Public Sans"/>
                <a:sym typeface="Public Sans"/>
              </a:rPr>
              <a:t>Metrics: Accuracy, Precision, Recall, F1, AUC  </a:t>
            </a:r>
          </a:p>
        </p:txBody>
      </p:sp>
      <p:sp>
        <p:nvSpPr>
          <p:cNvPr id="14" name="TextBox 14">
            <a:extLst>
              <a:ext uri="{FF2B5EF4-FFF2-40B4-BE49-F238E27FC236}">
                <a16:creationId xmlns:a16="http://schemas.microsoft.com/office/drawing/2014/main" id="{B8C51D6E-5569-C764-7ED8-260F0DA19628}"/>
              </a:ext>
            </a:extLst>
          </p:cNvPr>
          <p:cNvSpPr txBox="1"/>
          <p:nvPr/>
        </p:nvSpPr>
        <p:spPr>
          <a:xfrm>
            <a:off x="2717010" y="496143"/>
            <a:ext cx="12128927" cy="1011367"/>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Training Setup</a:t>
            </a:r>
          </a:p>
        </p:txBody>
      </p:sp>
    </p:spTree>
    <p:extLst>
      <p:ext uri="{BB962C8B-B14F-4D97-AF65-F5344CB8AC3E}">
        <p14:creationId xmlns:p14="http://schemas.microsoft.com/office/powerpoint/2010/main" val="182659888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a:extLst>
            <a:ext uri="{FF2B5EF4-FFF2-40B4-BE49-F238E27FC236}">
              <a16:creationId xmlns:a16="http://schemas.microsoft.com/office/drawing/2014/main" id="{B4C78F6B-C91B-BBE1-AC3C-B2169C40F7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AA2B3F-136D-E18A-63B4-395804097A4E}"/>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4A9D861-B9E1-05A4-CF89-44BEFF72A90E}"/>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32A454C8-46AA-8B9D-E732-2E4686277CD3}"/>
              </a:ext>
            </a:extLst>
          </p:cNvPr>
          <p:cNvGrpSpPr/>
          <p:nvPr/>
        </p:nvGrpSpPr>
        <p:grpSpPr>
          <a:xfrm>
            <a:off x="488696" y="-486639"/>
            <a:ext cx="17310608" cy="10357258"/>
            <a:chOff x="0" y="-38100"/>
            <a:chExt cx="774713" cy="463525"/>
          </a:xfrm>
        </p:grpSpPr>
        <p:sp>
          <p:nvSpPr>
            <p:cNvPr id="5" name="Freeform 5">
              <a:extLst>
                <a:ext uri="{FF2B5EF4-FFF2-40B4-BE49-F238E27FC236}">
                  <a16:creationId xmlns:a16="http://schemas.microsoft.com/office/drawing/2014/main" id="{7D59385E-7A75-FC15-0A2B-41E02061078E}"/>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dirty="0"/>
            </a:p>
          </p:txBody>
        </p:sp>
        <p:sp>
          <p:nvSpPr>
            <p:cNvPr id="6" name="TextBox 6">
              <a:extLst>
                <a:ext uri="{FF2B5EF4-FFF2-40B4-BE49-F238E27FC236}">
                  <a16:creationId xmlns:a16="http://schemas.microsoft.com/office/drawing/2014/main" id="{3D1727A8-0CDD-7CFF-8151-6CFABDEA8EEB}"/>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8BBA2F5B-EDEE-B976-B93D-9B74DE2E0E59}"/>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D6078738-758A-A4E8-04BB-F8614A29D7D9}"/>
              </a:ext>
            </a:extLst>
          </p:cNvPr>
          <p:cNvSpPr/>
          <p:nvPr/>
        </p:nvSpPr>
        <p:spPr>
          <a:xfrm rot="-1248570">
            <a:off x="14780435" y="1563462"/>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3BEC07D5-3BBE-BA3A-0B38-833DF438048A}"/>
              </a:ext>
            </a:extLst>
          </p:cNvPr>
          <p:cNvSpPr txBox="1"/>
          <p:nvPr/>
        </p:nvSpPr>
        <p:spPr>
          <a:xfrm>
            <a:off x="4875514" y="1927017"/>
            <a:ext cx="11638207" cy="6283771"/>
          </a:xfrm>
          <a:prstGeom prst="rect">
            <a:avLst/>
          </a:prstGeom>
        </p:spPr>
        <p:txBody>
          <a:bodyPr wrap="square" lIns="0" tIns="0" rIns="0" bIns="0" rtlCol="0" anchor="t">
            <a:spAutoFit/>
          </a:bodyPr>
          <a:lstStyle/>
          <a:p>
            <a:pPr marL="457200" indent="-457200">
              <a:lnSpc>
                <a:spcPts val="3499"/>
              </a:lnSpc>
              <a:buFont typeface="Arial" panose="020B0604020202020204" pitchFamily="34" charset="0"/>
              <a:buChar char="•"/>
            </a:pPr>
            <a:r>
              <a:rPr lang="en-US" sz="2800" b="1" dirty="0">
                <a:solidFill>
                  <a:srgbClr val="222366"/>
                </a:solidFill>
                <a:latin typeface="Public Sans"/>
                <a:ea typeface="Public Sans"/>
                <a:cs typeface="Public Sans"/>
                <a:sym typeface="Public Sans"/>
              </a:rPr>
              <a:t>Baseline CNN: 2 Conv + </a:t>
            </a:r>
            <a:r>
              <a:rPr lang="en-US" sz="2800" b="1" dirty="0" err="1">
                <a:solidFill>
                  <a:srgbClr val="222366"/>
                </a:solidFill>
                <a:latin typeface="Public Sans"/>
                <a:ea typeface="Public Sans"/>
                <a:cs typeface="Public Sans"/>
                <a:sym typeface="Public Sans"/>
              </a:rPr>
              <a:t>MaxPool</a:t>
            </a:r>
            <a:r>
              <a:rPr lang="en-US" sz="2800" b="1" dirty="0">
                <a:solidFill>
                  <a:srgbClr val="222366"/>
                </a:solidFill>
                <a:latin typeface="Public Sans"/>
                <a:ea typeface="Public Sans"/>
                <a:cs typeface="Public Sans"/>
                <a:sym typeface="Public Sans"/>
              </a:rPr>
              <a:t> + Dense: </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Minimal regularization.</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Faster to train but more prone to overfitting.</a:t>
            </a:r>
          </a:p>
          <a:p>
            <a:pPr marL="457200" indent="-457200">
              <a:lnSpc>
                <a:spcPts val="3499"/>
              </a:lnSpc>
              <a:buFont typeface="Arial" panose="020B0604020202020204" pitchFamily="34" charset="0"/>
              <a:buChar char="•"/>
            </a:pPr>
            <a:endParaRPr lang="en-US" sz="28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2800" b="1" dirty="0">
                <a:solidFill>
                  <a:srgbClr val="222366"/>
                </a:solidFill>
                <a:latin typeface="Public Sans"/>
                <a:ea typeface="Public Sans"/>
                <a:cs typeface="Public Sans"/>
                <a:sym typeface="Public Sans"/>
              </a:rPr>
              <a:t>Improved CNN: Deeper layers + dropout + regularization: </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Better feature extraction across tumor scales.</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Lower generalization error.</a:t>
            </a:r>
            <a:br>
              <a:rPr lang="en-US" sz="2800" b="1" dirty="0">
                <a:solidFill>
                  <a:srgbClr val="222366"/>
                </a:solidFill>
                <a:latin typeface="Public Sans"/>
                <a:ea typeface="Public Sans"/>
                <a:cs typeface="Public Sans"/>
                <a:sym typeface="Public Sans"/>
              </a:rPr>
            </a:br>
            <a:endParaRPr lang="en-US" sz="28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2800" b="1" dirty="0">
                <a:solidFill>
                  <a:srgbClr val="222366"/>
                </a:solidFill>
                <a:latin typeface="Public Sans"/>
                <a:ea typeface="Public Sans"/>
                <a:cs typeface="Public Sans"/>
                <a:sym typeface="Public Sans"/>
              </a:rPr>
              <a:t>Impact of improvement: </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More stable confidence.</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Fewer false negatives. </a:t>
            </a:r>
            <a:br>
              <a:rPr lang="en-US" sz="2800" b="1" dirty="0">
                <a:solidFill>
                  <a:srgbClr val="222366"/>
                </a:solidFill>
                <a:latin typeface="Public Sans"/>
                <a:ea typeface="Public Sans"/>
                <a:cs typeface="Public Sans"/>
                <a:sym typeface="Public Sans"/>
              </a:rPr>
            </a:br>
            <a:r>
              <a:rPr lang="en-US" sz="2800" b="1" dirty="0">
                <a:solidFill>
                  <a:srgbClr val="222366"/>
                </a:solidFill>
                <a:latin typeface="Public Sans"/>
                <a:ea typeface="Public Sans"/>
                <a:cs typeface="Public Sans"/>
                <a:sym typeface="Public Sans"/>
              </a:rPr>
              <a:t>    Safer for clinical triage.  </a:t>
            </a:r>
            <a:br>
              <a:rPr lang="en-US" sz="2800" b="1" dirty="0">
                <a:solidFill>
                  <a:srgbClr val="222366"/>
                </a:solidFill>
                <a:latin typeface="Public Sans"/>
                <a:ea typeface="Public Sans"/>
                <a:cs typeface="Public Sans"/>
                <a:sym typeface="Public Sans"/>
              </a:rPr>
            </a:br>
            <a:endParaRPr lang="en-US" sz="28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endParaRPr lang="en-US" sz="2800" b="1" dirty="0">
              <a:solidFill>
                <a:srgbClr val="222366"/>
              </a:solidFill>
              <a:latin typeface="Public Sans"/>
              <a:ea typeface="Public Sans"/>
              <a:cs typeface="Public Sans"/>
              <a:sym typeface="Public Sans"/>
            </a:endParaRPr>
          </a:p>
        </p:txBody>
      </p:sp>
      <p:sp>
        <p:nvSpPr>
          <p:cNvPr id="14" name="TextBox 14">
            <a:extLst>
              <a:ext uri="{FF2B5EF4-FFF2-40B4-BE49-F238E27FC236}">
                <a16:creationId xmlns:a16="http://schemas.microsoft.com/office/drawing/2014/main" id="{AC97364B-F03E-FA03-E978-B89B1EB7B9C4}"/>
              </a:ext>
            </a:extLst>
          </p:cNvPr>
          <p:cNvSpPr txBox="1"/>
          <p:nvPr/>
        </p:nvSpPr>
        <p:spPr>
          <a:xfrm>
            <a:off x="2806273" y="651935"/>
            <a:ext cx="12662327" cy="987835"/>
          </a:xfrm>
          <a:prstGeom prst="rect">
            <a:avLst/>
          </a:prstGeom>
        </p:spPr>
        <p:txBody>
          <a:bodyPr wrap="square" lIns="0" tIns="0" rIns="0" bIns="0" rtlCol="0" anchor="t">
            <a:spAutoFit/>
          </a:bodyPr>
          <a:lstStyle/>
          <a:p>
            <a:pPr algn="ctr">
              <a:lnSpc>
                <a:spcPts val="8819"/>
              </a:lnSpc>
            </a:pPr>
            <a:r>
              <a:rPr lang="en-US" sz="5400" dirty="0">
                <a:solidFill>
                  <a:srgbClr val="222366"/>
                </a:solidFill>
                <a:latin typeface="Brick Sans"/>
                <a:ea typeface="Brick Sans"/>
                <a:cs typeface="Brick Sans"/>
                <a:sym typeface="Brick Sans"/>
              </a:rPr>
              <a:t>Baseline vs Improved CNN</a:t>
            </a:r>
          </a:p>
        </p:txBody>
      </p:sp>
      <p:pic>
        <p:nvPicPr>
          <p:cNvPr id="7" name="Picture 6">
            <a:extLst>
              <a:ext uri="{FF2B5EF4-FFF2-40B4-BE49-F238E27FC236}">
                <a16:creationId xmlns:a16="http://schemas.microsoft.com/office/drawing/2014/main" id="{6A13A98B-D9D5-3412-3D09-DFDADDC9E9D4}"/>
              </a:ext>
            </a:extLst>
          </p:cNvPr>
          <p:cNvPicPr>
            <a:picLocks noChangeAspect="1"/>
          </p:cNvPicPr>
          <p:nvPr/>
        </p:nvPicPr>
        <p:blipFill>
          <a:blip r:embed="rId5"/>
          <a:stretch>
            <a:fillRect/>
          </a:stretch>
        </p:blipFill>
        <p:spPr>
          <a:xfrm>
            <a:off x="10196482" y="5275422"/>
            <a:ext cx="6489700" cy="2687301"/>
          </a:xfrm>
          <a:prstGeom prst="rect">
            <a:avLst/>
          </a:prstGeom>
        </p:spPr>
      </p:pic>
      <p:sp>
        <p:nvSpPr>
          <p:cNvPr id="11" name="Freeform 10">
            <a:extLst>
              <a:ext uri="{FF2B5EF4-FFF2-40B4-BE49-F238E27FC236}">
                <a16:creationId xmlns:a16="http://schemas.microsoft.com/office/drawing/2014/main" id="{45FF93DE-35F9-0EBD-78E9-889E382502E3}"/>
              </a:ext>
            </a:extLst>
          </p:cNvPr>
          <p:cNvSpPr/>
          <p:nvPr/>
        </p:nvSpPr>
        <p:spPr>
          <a:xfrm>
            <a:off x="1134301" y="4581077"/>
            <a:ext cx="4504500" cy="5705923"/>
          </a:xfrm>
          <a:custGeom>
            <a:avLst/>
            <a:gdLst/>
            <a:ahLst/>
            <a:cxnLst/>
            <a:rect l="l" t="t" r="r" b="b"/>
            <a:pathLst>
              <a:path w="3814457" h="5060639">
                <a:moveTo>
                  <a:pt x="0" y="0"/>
                </a:moveTo>
                <a:lnTo>
                  <a:pt x="3814457" y="0"/>
                </a:lnTo>
                <a:lnTo>
                  <a:pt x="3814457" y="5060640"/>
                </a:lnTo>
                <a:lnTo>
                  <a:pt x="0" y="506064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1">
            <a:extLst>
              <a:ext uri="{FF2B5EF4-FFF2-40B4-BE49-F238E27FC236}">
                <a16:creationId xmlns:a16="http://schemas.microsoft.com/office/drawing/2014/main" id="{E556FA80-6226-B61C-152C-F6C5E226DE20}"/>
              </a:ext>
            </a:extLst>
          </p:cNvPr>
          <p:cNvSpPr txBox="1"/>
          <p:nvPr/>
        </p:nvSpPr>
        <p:spPr>
          <a:xfrm>
            <a:off x="949569" y="742070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3851120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a:extLst>
            <a:ext uri="{FF2B5EF4-FFF2-40B4-BE49-F238E27FC236}">
              <a16:creationId xmlns:a16="http://schemas.microsoft.com/office/drawing/2014/main" id="{B42C4601-A50C-401E-8B90-7A9394EF69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BCDF9CD-391F-2263-C417-105DE2C62C5C}"/>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6A55A70-DFEA-3839-D908-1FD7BD86D1CA}"/>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2EAC1715-67F9-1D64-9962-436E6C632001}"/>
              </a:ext>
            </a:extLst>
          </p:cNvPr>
          <p:cNvGrpSpPr/>
          <p:nvPr/>
        </p:nvGrpSpPr>
        <p:grpSpPr>
          <a:xfrm>
            <a:off x="488696" y="364688"/>
            <a:ext cx="17310608" cy="9505931"/>
            <a:chOff x="0" y="0"/>
            <a:chExt cx="774713" cy="425425"/>
          </a:xfrm>
        </p:grpSpPr>
        <p:sp>
          <p:nvSpPr>
            <p:cNvPr id="5" name="Freeform 5">
              <a:extLst>
                <a:ext uri="{FF2B5EF4-FFF2-40B4-BE49-F238E27FC236}">
                  <a16:creationId xmlns:a16="http://schemas.microsoft.com/office/drawing/2014/main" id="{653E91BC-E277-A3A9-A5B6-5D1366844DF3}"/>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dirty="0"/>
            </a:p>
          </p:txBody>
        </p:sp>
        <p:sp>
          <p:nvSpPr>
            <p:cNvPr id="6" name="TextBox 6">
              <a:extLst>
                <a:ext uri="{FF2B5EF4-FFF2-40B4-BE49-F238E27FC236}">
                  <a16:creationId xmlns:a16="http://schemas.microsoft.com/office/drawing/2014/main" id="{7B325984-C966-6E54-4DB0-065980A37D10}"/>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45F6757B-F731-0AD4-BF3B-C41406649D73}"/>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C751D573-8B32-C7E7-7B23-B984218C1D22}"/>
              </a:ext>
            </a:extLst>
          </p:cNvPr>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81F507B9-3857-6ADC-7F3F-66877205B664}"/>
              </a:ext>
            </a:extLst>
          </p:cNvPr>
          <p:cNvSpPr txBox="1"/>
          <p:nvPr/>
        </p:nvSpPr>
        <p:spPr>
          <a:xfrm>
            <a:off x="4120702" y="2902534"/>
            <a:ext cx="9500068" cy="448841"/>
          </a:xfrm>
          <a:prstGeom prst="rect">
            <a:avLst/>
          </a:prstGeom>
        </p:spPr>
        <p:txBody>
          <a:bodyPr lIns="0" tIns="0" rIns="0" bIns="0" rtlCol="0" anchor="t">
            <a:spAutoFit/>
          </a:bodyPr>
          <a:lstStyle/>
          <a:p>
            <a:pPr marL="457200" indent="-457200" algn="l">
              <a:lnSpc>
                <a:spcPts val="3499"/>
              </a:lnSpc>
              <a:buFont typeface="Arial" panose="020B0604020202020204" pitchFamily="34" charset="0"/>
              <a:buChar char="•"/>
            </a:pPr>
            <a:endParaRPr lang="en-US" sz="3200" b="1" dirty="0">
              <a:solidFill>
                <a:srgbClr val="222366"/>
              </a:solidFill>
              <a:latin typeface="Public Sans"/>
              <a:ea typeface="Public Sans"/>
              <a:cs typeface="Public Sans"/>
              <a:sym typeface="Public Sans"/>
            </a:endParaRPr>
          </a:p>
        </p:txBody>
      </p:sp>
      <p:sp>
        <p:nvSpPr>
          <p:cNvPr id="14" name="TextBox 14">
            <a:extLst>
              <a:ext uri="{FF2B5EF4-FFF2-40B4-BE49-F238E27FC236}">
                <a16:creationId xmlns:a16="http://schemas.microsoft.com/office/drawing/2014/main" id="{5D12391E-F951-C21A-A41F-1527786BD669}"/>
              </a:ext>
            </a:extLst>
          </p:cNvPr>
          <p:cNvSpPr txBox="1"/>
          <p:nvPr/>
        </p:nvSpPr>
        <p:spPr>
          <a:xfrm>
            <a:off x="2806273" y="651935"/>
            <a:ext cx="12128927" cy="2139881"/>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Validation Metrics (Results)</a:t>
            </a:r>
          </a:p>
        </p:txBody>
      </p:sp>
      <p:sp>
        <p:nvSpPr>
          <p:cNvPr id="18" name="Freeform 14">
            <a:extLst>
              <a:ext uri="{FF2B5EF4-FFF2-40B4-BE49-F238E27FC236}">
                <a16:creationId xmlns:a16="http://schemas.microsoft.com/office/drawing/2014/main" id="{E9136735-69E1-DFA4-6169-D27852520580}"/>
              </a:ext>
            </a:extLst>
          </p:cNvPr>
          <p:cNvSpPr/>
          <p:nvPr/>
        </p:nvSpPr>
        <p:spPr>
          <a:xfrm>
            <a:off x="13335000" y="3608860"/>
            <a:ext cx="4182010" cy="7261880"/>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pic>
        <p:nvPicPr>
          <p:cNvPr id="7" name="Picture 6">
            <a:extLst>
              <a:ext uri="{FF2B5EF4-FFF2-40B4-BE49-F238E27FC236}">
                <a16:creationId xmlns:a16="http://schemas.microsoft.com/office/drawing/2014/main" id="{AAC98477-0A73-40B4-E38F-9654AB4CF837}"/>
              </a:ext>
            </a:extLst>
          </p:cNvPr>
          <p:cNvPicPr>
            <a:picLocks noChangeAspect="1"/>
          </p:cNvPicPr>
          <p:nvPr/>
        </p:nvPicPr>
        <p:blipFill>
          <a:blip r:embed="rId6"/>
          <a:stretch>
            <a:fillRect/>
          </a:stretch>
        </p:blipFill>
        <p:spPr>
          <a:xfrm>
            <a:off x="5320413" y="2902534"/>
            <a:ext cx="6996008" cy="6355766"/>
          </a:xfrm>
          <a:prstGeom prst="rect">
            <a:avLst/>
          </a:prstGeom>
        </p:spPr>
      </p:pic>
    </p:spTree>
    <p:extLst>
      <p:ext uri="{BB962C8B-B14F-4D97-AF65-F5344CB8AC3E}">
        <p14:creationId xmlns:p14="http://schemas.microsoft.com/office/powerpoint/2010/main" val="2315382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F95F-042C-B3A3-E6B7-0A53C2BE43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3EB3C1B-FC78-BB21-4690-D462FBFDADD7}"/>
              </a:ext>
            </a:extLst>
          </p:cNvPr>
          <p:cNvSpPr/>
          <p:nvPr/>
        </p:nvSpPr>
        <p:spPr>
          <a:xfrm>
            <a:off x="3721612" y="340970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a:extLst>
              <a:ext uri="{FF2B5EF4-FFF2-40B4-BE49-F238E27FC236}">
                <a16:creationId xmlns:a16="http://schemas.microsoft.com/office/drawing/2014/main" id="{86A2B212-1D6B-1D5C-C035-9425D5B36638}"/>
              </a:ext>
            </a:extLst>
          </p:cNvPr>
          <p:cNvSpPr/>
          <p:nvPr/>
        </p:nvSpPr>
        <p:spPr>
          <a:xfrm>
            <a:off x="9859897" y="-671355"/>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A9800B1F-45F5-844B-2139-9E86C3D022EF}"/>
              </a:ext>
            </a:extLst>
          </p:cNvPr>
          <p:cNvGrpSpPr/>
          <p:nvPr/>
        </p:nvGrpSpPr>
        <p:grpSpPr>
          <a:xfrm>
            <a:off x="10700519" y="1003402"/>
            <a:ext cx="5694209" cy="8280195"/>
            <a:chOff x="0" y="0"/>
            <a:chExt cx="812800" cy="1181928"/>
          </a:xfrm>
        </p:grpSpPr>
        <p:sp>
          <p:nvSpPr>
            <p:cNvPr id="5" name="Freeform 5">
              <a:extLst>
                <a:ext uri="{FF2B5EF4-FFF2-40B4-BE49-F238E27FC236}">
                  <a16:creationId xmlns:a16="http://schemas.microsoft.com/office/drawing/2014/main" id="{CD71EF0D-6E3E-1067-4E7B-7E3C54E791E3}"/>
                </a:ext>
              </a:extLst>
            </p:cNvPr>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txBody>
            <a:bodyPr/>
            <a:lstStyle/>
            <a:p>
              <a:endParaRPr lang="en-US"/>
            </a:p>
          </p:txBody>
        </p:sp>
        <p:sp>
          <p:nvSpPr>
            <p:cNvPr id="6" name="TextBox 6">
              <a:extLst>
                <a:ext uri="{FF2B5EF4-FFF2-40B4-BE49-F238E27FC236}">
                  <a16:creationId xmlns:a16="http://schemas.microsoft.com/office/drawing/2014/main" id="{6B3842DC-1A7F-D08E-6D27-9C44736C8AD5}"/>
                </a:ext>
              </a:extLst>
            </p:cNvPr>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2415AA80-621F-B2D1-C301-8768707B4D1D}"/>
              </a:ext>
            </a:extLst>
          </p:cNvPr>
          <p:cNvSpPr/>
          <p:nvPr/>
        </p:nvSpPr>
        <p:spPr>
          <a:xfrm>
            <a:off x="3899397" y="4282541"/>
            <a:ext cx="7876905" cy="8350564"/>
          </a:xfrm>
          <a:custGeom>
            <a:avLst/>
            <a:gdLst/>
            <a:ahLst/>
            <a:cxnLst/>
            <a:rect l="l" t="t" r="r" b="b"/>
            <a:pathLst>
              <a:path w="6410088" h="6901845">
                <a:moveTo>
                  <a:pt x="0" y="0"/>
                </a:moveTo>
                <a:lnTo>
                  <a:pt x="6410088" y="0"/>
                </a:lnTo>
                <a:lnTo>
                  <a:pt x="6410088" y="6901845"/>
                </a:lnTo>
                <a:lnTo>
                  <a:pt x="0" y="69018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3AE6433C-F8C9-EAAD-84E1-A521EBCA162D}"/>
              </a:ext>
            </a:extLst>
          </p:cNvPr>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a:extLst>
              <a:ext uri="{FF2B5EF4-FFF2-40B4-BE49-F238E27FC236}">
                <a16:creationId xmlns:a16="http://schemas.microsoft.com/office/drawing/2014/main" id="{7AD70F72-5728-DA0D-49A2-A7EA5FB6C515}"/>
              </a:ext>
            </a:extLst>
          </p:cNvPr>
          <p:cNvSpPr txBox="1"/>
          <p:nvPr/>
        </p:nvSpPr>
        <p:spPr>
          <a:xfrm>
            <a:off x="635137" y="460109"/>
            <a:ext cx="6658969" cy="2539169"/>
          </a:xfrm>
          <a:prstGeom prst="rect">
            <a:avLst/>
          </a:prstGeom>
        </p:spPr>
        <p:txBody>
          <a:bodyPr wrap="square" lIns="0" tIns="0" rIns="0" bIns="0" rtlCol="0" anchor="t">
            <a:spAutoFit/>
          </a:bodyPr>
          <a:lstStyle/>
          <a:p>
            <a:pPr algn="l">
              <a:lnSpc>
                <a:spcPts val="10500"/>
              </a:lnSpc>
            </a:pPr>
            <a:r>
              <a:rPr lang="en-US" sz="6600" dirty="0">
                <a:solidFill>
                  <a:srgbClr val="222366"/>
                </a:solidFill>
                <a:latin typeface="Brick Sans"/>
                <a:ea typeface="Brick Sans"/>
                <a:cs typeface="Brick Sans"/>
                <a:sym typeface="Brick Sans"/>
              </a:rPr>
              <a:t>Analysis &amp; Discussion</a:t>
            </a:r>
          </a:p>
        </p:txBody>
      </p:sp>
      <p:sp>
        <p:nvSpPr>
          <p:cNvPr id="13" name="Freeform 8">
            <a:extLst>
              <a:ext uri="{FF2B5EF4-FFF2-40B4-BE49-F238E27FC236}">
                <a16:creationId xmlns:a16="http://schemas.microsoft.com/office/drawing/2014/main" id="{36D99A49-9CD5-D042-A7F4-37A9589BB392}"/>
              </a:ext>
            </a:extLst>
          </p:cNvPr>
          <p:cNvSpPr/>
          <p:nvPr/>
        </p:nvSpPr>
        <p:spPr>
          <a:xfrm rot="20351430">
            <a:off x="836864" y="5296405"/>
            <a:ext cx="2683021" cy="3953040"/>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Shape 3">
            <a:extLst>
              <a:ext uri="{FF2B5EF4-FFF2-40B4-BE49-F238E27FC236}">
                <a16:creationId xmlns:a16="http://schemas.microsoft.com/office/drawing/2014/main" id="{E01E8EF3-5FAF-1330-74C7-BB0E46879359}"/>
              </a:ext>
            </a:extLst>
          </p:cNvPr>
          <p:cNvSpPr/>
          <p:nvPr/>
        </p:nvSpPr>
        <p:spPr>
          <a:xfrm>
            <a:off x="10599090" y="1003395"/>
            <a:ext cx="5897065" cy="8026305"/>
          </a:xfrm>
          <a:prstGeom prst="rect">
            <a:avLst/>
          </a:prstGeom>
          <a:solidFill>
            <a:srgbClr val="0D7377"/>
          </a:solidFill>
          <a:ln w="12700">
            <a:solidFill>
              <a:srgbClr val="0D7377"/>
            </a:solidFill>
            <a:prstDash val="solid"/>
          </a:ln>
          <a:effectLst>
            <a:outerShdw blurRad="101600" dist="38100" dir="8100000" algn="bl" rotWithShape="0">
              <a:srgbClr val="000000">
                <a:alpha val="15000"/>
              </a:srgbClr>
            </a:outerShdw>
          </a:effectLst>
        </p:spPr>
        <p:txBody>
          <a:bodyPr/>
          <a:lstStyle/>
          <a:p>
            <a:r>
              <a:rPr lang="en-US" sz="3600" b="1" dirty="0">
                <a:solidFill>
                  <a:srgbClr val="FFFFFF"/>
                </a:solidFill>
                <a:latin typeface="Calibri" pitchFamily="34" charset="0"/>
                <a:cs typeface="Calibri" pitchFamily="34" charset="-120"/>
              </a:rPr>
              <a:t>Recall = 0.98 → very low false negatives.</a:t>
            </a:r>
            <a:br>
              <a:rPr lang="en-US" sz="3600" b="1" dirty="0">
                <a:solidFill>
                  <a:srgbClr val="FFFFFF"/>
                </a:solidFill>
                <a:latin typeface="Calibri" pitchFamily="34" charset="0"/>
                <a:cs typeface="Calibri" pitchFamily="34" charset="-120"/>
              </a:rPr>
            </a:br>
            <a:endParaRPr lang="en-US" sz="3600" b="1" dirty="0">
              <a:solidFill>
                <a:srgbClr val="FFFFFF"/>
              </a:solidFill>
              <a:latin typeface="Calibri" pitchFamily="34" charset="0"/>
              <a:cs typeface="Calibri" pitchFamily="34" charset="-120"/>
            </a:endParaRPr>
          </a:p>
          <a:p>
            <a:r>
              <a:rPr lang="en-US" sz="3600" b="1" dirty="0">
                <a:solidFill>
                  <a:srgbClr val="FFFFFF"/>
                </a:solidFill>
                <a:latin typeface="Calibri" pitchFamily="34" charset="0"/>
                <a:cs typeface="Calibri" pitchFamily="34" charset="-120"/>
              </a:rPr>
              <a:t>Precision = 0.99 → few false positives. </a:t>
            </a:r>
          </a:p>
          <a:p>
            <a:br>
              <a:rPr lang="en-US" sz="3600" b="1" dirty="0">
                <a:solidFill>
                  <a:srgbClr val="FFFFFF"/>
                </a:solidFill>
                <a:latin typeface="Calibri" pitchFamily="34" charset="0"/>
                <a:cs typeface="Calibri" pitchFamily="34" charset="-120"/>
              </a:rPr>
            </a:br>
            <a:r>
              <a:rPr lang="en-US" sz="3600" b="1" dirty="0">
                <a:solidFill>
                  <a:srgbClr val="FFFFFF"/>
                </a:solidFill>
                <a:latin typeface="Calibri" pitchFamily="34" charset="0"/>
                <a:cs typeface="Calibri" pitchFamily="34" charset="-120"/>
              </a:rPr>
              <a:t>AUC = 1.0 → strong class separation.</a:t>
            </a:r>
            <a:br>
              <a:rPr lang="en-US" sz="3600" b="1" dirty="0">
                <a:solidFill>
                  <a:srgbClr val="FFFFFF"/>
                </a:solidFill>
                <a:latin typeface="Calibri" pitchFamily="34" charset="0"/>
                <a:cs typeface="Calibri" pitchFamily="34" charset="-120"/>
              </a:rPr>
            </a:br>
            <a:br>
              <a:rPr lang="en-US" sz="3600" b="1" dirty="0">
                <a:solidFill>
                  <a:srgbClr val="FFFFFF"/>
                </a:solidFill>
                <a:latin typeface="Calibri" pitchFamily="34" charset="0"/>
                <a:cs typeface="Calibri" pitchFamily="34" charset="-120"/>
              </a:rPr>
            </a:br>
            <a:r>
              <a:rPr lang="en-US" sz="3600" b="1" dirty="0">
                <a:solidFill>
                  <a:srgbClr val="FFFFFF"/>
                </a:solidFill>
                <a:latin typeface="Calibri" pitchFamily="34" charset="0"/>
                <a:cs typeface="Calibri" pitchFamily="34" charset="-120"/>
              </a:rPr>
              <a:t>Results suitable for clinical triage support. </a:t>
            </a:r>
            <a:br>
              <a:rPr lang="en-US" sz="3600" b="1" dirty="0">
                <a:solidFill>
                  <a:srgbClr val="FFFFFF"/>
                </a:solidFill>
                <a:latin typeface="Calibri" pitchFamily="34" charset="0"/>
                <a:cs typeface="Calibri" pitchFamily="34" charset="-120"/>
              </a:rPr>
            </a:br>
            <a:br>
              <a:rPr lang="en-US" sz="3600" b="1" dirty="0">
                <a:solidFill>
                  <a:srgbClr val="FFFFFF"/>
                </a:solidFill>
                <a:latin typeface="Calibri" pitchFamily="34" charset="0"/>
                <a:cs typeface="Calibri" pitchFamily="34" charset="-120"/>
              </a:rPr>
            </a:br>
            <a:r>
              <a:rPr lang="en-US" sz="3600" b="1" dirty="0">
                <a:solidFill>
                  <a:srgbClr val="FFFFFF"/>
                </a:solidFill>
                <a:latin typeface="Calibri" pitchFamily="34" charset="0"/>
                <a:cs typeface="Calibri" pitchFamily="34" charset="-120"/>
              </a:rPr>
              <a:t>More diverse datasets needed for generalization.</a:t>
            </a:r>
          </a:p>
          <a:p>
            <a:br>
              <a:rPr lang="en-US" sz="3600" b="1" dirty="0">
                <a:solidFill>
                  <a:srgbClr val="FFFFFF"/>
                </a:solidFill>
                <a:latin typeface="Calibri" pitchFamily="34" charset="0"/>
                <a:cs typeface="Calibri" pitchFamily="34" charset="-120"/>
              </a:rPr>
            </a:br>
            <a:br>
              <a:rPr lang="en-US" sz="3600" b="1" dirty="0">
                <a:solidFill>
                  <a:srgbClr val="FFFFFF"/>
                </a:solidFill>
                <a:latin typeface="Calibri" pitchFamily="34" charset="0"/>
                <a:cs typeface="Calibri" pitchFamily="34" charset="-120"/>
              </a:rPr>
            </a:br>
            <a:endParaRPr lang="en-US" sz="3600" b="1" dirty="0">
              <a:solidFill>
                <a:srgbClr val="FFFFFF"/>
              </a:solidFill>
              <a:latin typeface="Calibri" pitchFamily="34" charset="0"/>
              <a:cs typeface="Calibri" pitchFamily="34" charset="-120"/>
            </a:endParaRPr>
          </a:p>
        </p:txBody>
      </p:sp>
      <p:sp>
        <p:nvSpPr>
          <p:cNvPr id="14" name="Shape 6">
            <a:extLst>
              <a:ext uri="{FF2B5EF4-FFF2-40B4-BE49-F238E27FC236}">
                <a16:creationId xmlns:a16="http://schemas.microsoft.com/office/drawing/2014/main" id="{7C35EA67-7CD9-DE8C-E278-1DDDF2F3FCEC}"/>
              </a:ext>
            </a:extLst>
          </p:cNvPr>
          <p:cNvSpPr/>
          <p:nvPr/>
        </p:nvSpPr>
        <p:spPr>
          <a:xfrm>
            <a:off x="10565780" y="8750269"/>
            <a:ext cx="5897065" cy="173549"/>
          </a:xfrm>
          <a:prstGeom prst="rect">
            <a:avLst/>
          </a:prstGeom>
          <a:solidFill>
            <a:srgbClr val="F4A825"/>
          </a:solidFill>
          <a:ln w="12700">
            <a:solidFill>
              <a:srgbClr val="F4A825"/>
            </a:solidFill>
            <a:prstDash val="solid"/>
          </a:ln>
        </p:spPr>
        <p:txBody>
          <a:bodyPr/>
          <a:lstStyle/>
          <a:p>
            <a:endParaRPr lang="en-US" dirty="0"/>
          </a:p>
        </p:txBody>
      </p:sp>
    </p:spTree>
    <p:extLst>
      <p:ext uri="{BB962C8B-B14F-4D97-AF65-F5344CB8AC3E}">
        <p14:creationId xmlns:p14="http://schemas.microsoft.com/office/powerpoint/2010/main" val="60062557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a:extLst>
            <a:ext uri="{FF2B5EF4-FFF2-40B4-BE49-F238E27FC236}">
              <a16:creationId xmlns:a16="http://schemas.microsoft.com/office/drawing/2014/main" id="{0482DDD6-2C6C-E5EC-D5F4-9C8FD31150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C18DC3-9084-A78A-5476-109B6BF0FFA3}"/>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C199E7D-0A5B-2404-7362-2CCF504AF556}"/>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18882948-4C2F-D298-BC81-6827F7C995B9}"/>
              </a:ext>
            </a:extLst>
          </p:cNvPr>
          <p:cNvGrpSpPr/>
          <p:nvPr/>
        </p:nvGrpSpPr>
        <p:grpSpPr>
          <a:xfrm>
            <a:off x="488696" y="364688"/>
            <a:ext cx="17310608" cy="9505931"/>
            <a:chOff x="0" y="0"/>
            <a:chExt cx="774713" cy="425425"/>
          </a:xfrm>
        </p:grpSpPr>
        <p:sp>
          <p:nvSpPr>
            <p:cNvPr id="5" name="Freeform 5">
              <a:extLst>
                <a:ext uri="{FF2B5EF4-FFF2-40B4-BE49-F238E27FC236}">
                  <a16:creationId xmlns:a16="http://schemas.microsoft.com/office/drawing/2014/main" id="{A36698D8-478E-9EC1-0FDE-6F54F44A29D0}"/>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dirty="0"/>
            </a:p>
          </p:txBody>
        </p:sp>
        <p:sp>
          <p:nvSpPr>
            <p:cNvPr id="6" name="TextBox 6">
              <a:extLst>
                <a:ext uri="{FF2B5EF4-FFF2-40B4-BE49-F238E27FC236}">
                  <a16:creationId xmlns:a16="http://schemas.microsoft.com/office/drawing/2014/main" id="{85F70C46-7442-45CC-4FA3-95947766D9F1}"/>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6CC8A65F-22C2-A77A-23B0-92B0938B5FF8}"/>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F3D11F8C-01FD-0109-1798-B1EF93F08FA0}"/>
              </a:ext>
            </a:extLst>
          </p:cNvPr>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B7008DC0-3B8F-577D-7B9E-0127178CC21C}"/>
              </a:ext>
            </a:extLst>
          </p:cNvPr>
          <p:cNvSpPr txBox="1"/>
          <p:nvPr/>
        </p:nvSpPr>
        <p:spPr>
          <a:xfrm>
            <a:off x="3420290" y="2664144"/>
            <a:ext cx="10143310" cy="5386090"/>
          </a:xfrm>
          <a:prstGeom prst="rect">
            <a:avLst/>
          </a:prstGeom>
        </p:spPr>
        <p:txBody>
          <a:bodyPr wrap="square" lIns="0" tIns="0" rIns="0" bIns="0" rtlCol="0" anchor="t">
            <a:spAutoFit/>
          </a:bodyPr>
          <a:lstStyle/>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Uses only 2D MRI slices (not volumetric 3D scans).</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Dataset size is limited, with restricted diversity.</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No patient metadata (age, history, scan type).</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Not clinically validated across hospitals.</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Performance may drop on unseen scanners.</a:t>
            </a:r>
          </a:p>
        </p:txBody>
      </p:sp>
      <p:sp>
        <p:nvSpPr>
          <p:cNvPr id="14" name="TextBox 14">
            <a:extLst>
              <a:ext uri="{FF2B5EF4-FFF2-40B4-BE49-F238E27FC236}">
                <a16:creationId xmlns:a16="http://schemas.microsoft.com/office/drawing/2014/main" id="{9A2A1F01-9848-8427-67F0-AC9FF402726B}"/>
              </a:ext>
            </a:extLst>
          </p:cNvPr>
          <p:cNvSpPr txBox="1"/>
          <p:nvPr/>
        </p:nvSpPr>
        <p:spPr>
          <a:xfrm>
            <a:off x="2806273" y="651935"/>
            <a:ext cx="12128927" cy="1011367"/>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Limitations</a:t>
            </a:r>
          </a:p>
        </p:txBody>
      </p:sp>
      <p:sp>
        <p:nvSpPr>
          <p:cNvPr id="18" name="Freeform 14">
            <a:extLst>
              <a:ext uri="{FF2B5EF4-FFF2-40B4-BE49-F238E27FC236}">
                <a16:creationId xmlns:a16="http://schemas.microsoft.com/office/drawing/2014/main" id="{5DBC948F-48A7-0499-CC67-F7C6073C821B}"/>
              </a:ext>
            </a:extLst>
          </p:cNvPr>
          <p:cNvSpPr/>
          <p:nvPr/>
        </p:nvSpPr>
        <p:spPr>
          <a:xfrm>
            <a:off x="13335000" y="3608860"/>
            <a:ext cx="4182010" cy="7261880"/>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extLst>
      <p:ext uri="{BB962C8B-B14F-4D97-AF65-F5344CB8AC3E}">
        <p14:creationId xmlns:p14="http://schemas.microsoft.com/office/powerpoint/2010/main" val="33363264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73823-81BE-7D4E-C18A-FDAA2A431C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A3662D8-2E40-5C21-45DD-7F9A7B7EC4E1}"/>
              </a:ext>
            </a:extLst>
          </p:cNvPr>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EC8A0D6-214B-F67A-9502-B1FEB40593B4}"/>
              </a:ext>
            </a:extLst>
          </p:cNvPr>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a:extLst>
              <a:ext uri="{FF2B5EF4-FFF2-40B4-BE49-F238E27FC236}">
                <a16:creationId xmlns:a16="http://schemas.microsoft.com/office/drawing/2014/main" id="{4220F7D2-3B66-92C4-C839-44CF7CDB10FB}"/>
              </a:ext>
            </a:extLst>
          </p:cNvPr>
          <p:cNvGrpSpPr/>
          <p:nvPr/>
        </p:nvGrpSpPr>
        <p:grpSpPr>
          <a:xfrm>
            <a:off x="488696" y="364688"/>
            <a:ext cx="17310608" cy="9505931"/>
            <a:chOff x="0" y="0"/>
            <a:chExt cx="774713" cy="425425"/>
          </a:xfrm>
        </p:grpSpPr>
        <p:sp>
          <p:nvSpPr>
            <p:cNvPr id="5" name="Freeform 5">
              <a:extLst>
                <a:ext uri="{FF2B5EF4-FFF2-40B4-BE49-F238E27FC236}">
                  <a16:creationId xmlns:a16="http://schemas.microsoft.com/office/drawing/2014/main" id="{B3ACA132-0814-F7BB-28C2-BBBC3B7FAB11}"/>
                </a:ext>
              </a:extLst>
            </p:cNvPr>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txBody>
            <a:bodyPr/>
            <a:lstStyle/>
            <a:p>
              <a:endParaRPr lang="en-US"/>
            </a:p>
          </p:txBody>
        </p:sp>
        <p:sp>
          <p:nvSpPr>
            <p:cNvPr id="6" name="TextBox 6">
              <a:extLst>
                <a:ext uri="{FF2B5EF4-FFF2-40B4-BE49-F238E27FC236}">
                  <a16:creationId xmlns:a16="http://schemas.microsoft.com/office/drawing/2014/main" id="{E5DEE99B-13B4-C85E-A2CD-CD7B72CA41AE}"/>
                </a:ext>
              </a:extLst>
            </p:cNvPr>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73346FB-E92B-5697-3EDF-088C628953C3}"/>
              </a:ext>
            </a:extLst>
          </p:cNvPr>
          <p:cNvSpPr/>
          <p:nvPr/>
        </p:nvSpPr>
        <p:spPr>
          <a:xfrm>
            <a:off x="12876354" y="2858030"/>
            <a:ext cx="5689285" cy="7379969"/>
          </a:xfrm>
          <a:custGeom>
            <a:avLst/>
            <a:gdLst/>
            <a:ahLst/>
            <a:cxnLst/>
            <a:rect l="l" t="t" r="r" b="b"/>
            <a:pathLst>
              <a:path w="5689285" h="7379969">
                <a:moveTo>
                  <a:pt x="0" y="0"/>
                </a:moveTo>
                <a:lnTo>
                  <a:pt x="5689285" y="0"/>
                </a:lnTo>
                <a:lnTo>
                  <a:pt x="5689285" y="7379968"/>
                </a:lnTo>
                <a:lnTo>
                  <a:pt x="0" y="73799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AFB14494-34E8-7A5C-E5CC-CDB22238A52A}"/>
              </a:ext>
            </a:extLst>
          </p:cNvPr>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75F7B635-8C69-DCE6-E6E3-0C21BD20B87C}"/>
              </a:ext>
            </a:extLst>
          </p:cNvPr>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810A234D-6AF9-7446-8599-ED4762A3F372}"/>
              </a:ext>
            </a:extLst>
          </p:cNvPr>
          <p:cNvSpPr txBox="1"/>
          <p:nvPr/>
        </p:nvSpPr>
        <p:spPr>
          <a:xfrm>
            <a:off x="3013589" y="2385214"/>
            <a:ext cx="9843826" cy="4937249"/>
          </a:xfrm>
          <a:prstGeom prst="rect">
            <a:avLst/>
          </a:prstGeom>
        </p:spPr>
        <p:txBody>
          <a:bodyPr wrap="square" lIns="0" tIns="0" rIns="0" bIns="0" rtlCol="0" anchor="t">
            <a:spAutoFit/>
          </a:bodyPr>
          <a:lstStyle/>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Transfer learning with </a:t>
            </a:r>
            <a:r>
              <a:rPr lang="en-US" sz="3600" b="1" dirty="0" err="1">
                <a:solidFill>
                  <a:srgbClr val="222366"/>
                </a:solidFill>
                <a:latin typeface="Public Sans"/>
                <a:ea typeface="Public Sans"/>
                <a:cs typeface="Public Sans"/>
                <a:sym typeface="Public Sans"/>
              </a:rPr>
              <a:t>ResNet</a:t>
            </a:r>
            <a:r>
              <a:rPr lang="en-US" sz="3600" b="1" dirty="0">
                <a:solidFill>
                  <a:srgbClr val="222366"/>
                </a:solidFill>
                <a:latin typeface="Public Sans"/>
                <a:ea typeface="Public Sans"/>
                <a:cs typeface="Public Sans"/>
                <a:sym typeface="Public Sans"/>
              </a:rPr>
              <a:t> / </a:t>
            </a:r>
            <a:r>
              <a:rPr lang="en-US" sz="3600" b="1" dirty="0" err="1">
                <a:solidFill>
                  <a:srgbClr val="222366"/>
                </a:solidFill>
                <a:latin typeface="Public Sans"/>
                <a:ea typeface="Public Sans"/>
                <a:cs typeface="Public Sans"/>
                <a:sym typeface="Public Sans"/>
              </a:rPr>
              <a:t>EfficientNet</a:t>
            </a:r>
            <a:r>
              <a:rPr lang="en-US" sz="3600" b="1" dirty="0">
                <a:solidFill>
                  <a:srgbClr val="222366"/>
                </a:solidFill>
                <a:latin typeface="Public Sans"/>
                <a:ea typeface="Public Sans"/>
                <a:cs typeface="Public Sans"/>
                <a:sym typeface="Public Sans"/>
              </a:rPr>
              <a:t>.</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Integrate multi‑modal MRI (T1, T2, FLAIR).</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Add Grad‑CAM visual explanations.</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Cloud deployment for rural diagnostics.</a:t>
            </a:r>
            <a:br>
              <a:rPr lang="en-US" sz="3600" b="1" dirty="0">
                <a:solidFill>
                  <a:srgbClr val="222366"/>
                </a:solidFill>
                <a:latin typeface="Public Sans"/>
                <a:ea typeface="Public Sans"/>
                <a:cs typeface="Public Sans"/>
                <a:sym typeface="Public Sans"/>
              </a:rPr>
            </a:br>
            <a:endParaRPr lang="en-US" sz="3600" b="1" dirty="0">
              <a:solidFill>
                <a:srgbClr val="222366"/>
              </a:solidFill>
              <a:latin typeface="Public Sans"/>
              <a:ea typeface="Public Sans"/>
              <a:cs typeface="Public Sans"/>
              <a:sym typeface="Public Sans"/>
            </a:endParaRPr>
          </a:p>
          <a:p>
            <a:pPr marL="457200" indent="-457200">
              <a:lnSpc>
                <a:spcPts val="3499"/>
              </a:lnSpc>
              <a:buFont typeface="Arial" panose="020B0604020202020204" pitchFamily="34" charset="0"/>
              <a:buChar char="•"/>
            </a:pPr>
            <a:r>
              <a:rPr lang="en-US" sz="3600" b="1" dirty="0">
                <a:solidFill>
                  <a:srgbClr val="222366"/>
                </a:solidFill>
                <a:latin typeface="Public Sans"/>
                <a:ea typeface="Public Sans"/>
                <a:cs typeface="Public Sans"/>
                <a:sym typeface="Public Sans"/>
              </a:rPr>
              <a:t>Automated tumor segmentation and size estimation.</a:t>
            </a:r>
          </a:p>
        </p:txBody>
      </p:sp>
      <p:sp>
        <p:nvSpPr>
          <p:cNvPr id="14" name="TextBox 14">
            <a:extLst>
              <a:ext uri="{FF2B5EF4-FFF2-40B4-BE49-F238E27FC236}">
                <a16:creationId xmlns:a16="http://schemas.microsoft.com/office/drawing/2014/main" id="{CE6E3E53-E1D9-E019-F998-D3F2EED2A0D8}"/>
              </a:ext>
            </a:extLst>
          </p:cNvPr>
          <p:cNvSpPr txBox="1"/>
          <p:nvPr/>
        </p:nvSpPr>
        <p:spPr>
          <a:xfrm>
            <a:off x="2717010" y="496143"/>
            <a:ext cx="12128927" cy="1011367"/>
          </a:xfrm>
          <a:prstGeom prst="rect">
            <a:avLst/>
          </a:prstGeom>
        </p:spPr>
        <p:txBody>
          <a:bodyPr wrap="square"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Future Scope</a:t>
            </a:r>
          </a:p>
        </p:txBody>
      </p:sp>
    </p:spTree>
    <p:extLst>
      <p:ext uri="{BB962C8B-B14F-4D97-AF65-F5344CB8AC3E}">
        <p14:creationId xmlns:p14="http://schemas.microsoft.com/office/powerpoint/2010/main" val="423471865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a:extLst>
            <a:ext uri="{FF2B5EF4-FFF2-40B4-BE49-F238E27FC236}">
              <a16:creationId xmlns:a16="http://schemas.microsoft.com/office/drawing/2014/main" id="{8219F329-776A-E77A-5BC6-C8436AD7E2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FEE57C-8B35-E3E3-8BCA-068E99BC3CE3}"/>
              </a:ext>
            </a:extLst>
          </p:cNvPr>
          <p:cNvSpPr/>
          <p:nvPr/>
        </p:nvSpPr>
        <p:spPr>
          <a:xfrm>
            <a:off x="3721612" y="340970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7" name="Freeform 7">
            <a:extLst>
              <a:ext uri="{FF2B5EF4-FFF2-40B4-BE49-F238E27FC236}">
                <a16:creationId xmlns:a16="http://schemas.microsoft.com/office/drawing/2014/main" id="{E8FA385F-CB9F-4E25-BAF4-6671B64A84EE}"/>
              </a:ext>
            </a:extLst>
          </p:cNvPr>
          <p:cNvSpPr/>
          <p:nvPr/>
        </p:nvSpPr>
        <p:spPr>
          <a:xfrm>
            <a:off x="3557573" y="3565189"/>
            <a:ext cx="6978906" cy="7726439"/>
          </a:xfrm>
          <a:custGeom>
            <a:avLst/>
            <a:gdLst/>
            <a:ahLst/>
            <a:cxnLst/>
            <a:rect l="l" t="t" r="r" b="b"/>
            <a:pathLst>
              <a:path w="6410088" h="6901845">
                <a:moveTo>
                  <a:pt x="0" y="0"/>
                </a:moveTo>
                <a:lnTo>
                  <a:pt x="6410088" y="0"/>
                </a:lnTo>
                <a:lnTo>
                  <a:pt x="6410088" y="6901845"/>
                </a:lnTo>
                <a:lnTo>
                  <a:pt x="0" y="69018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A97E4145-8ADD-E49C-BCCA-5CCB0FB72F80}"/>
              </a:ext>
            </a:extLst>
          </p:cNvPr>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a:extLst>
              <a:ext uri="{FF2B5EF4-FFF2-40B4-BE49-F238E27FC236}">
                <a16:creationId xmlns:a16="http://schemas.microsoft.com/office/drawing/2014/main" id="{A9EC873E-BE1B-54CF-1D39-95A56454094D}"/>
              </a:ext>
            </a:extLst>
          </p:cNvPr>
          <p:cNvSpPr txBox="1"/>
          <p:nvPr/>
        </p:nvSpPr>
        <p:spPr>
          <a:xfrm>
            <a:off x="10706273" y="1117205"/>
            <a:ext cx="5688458" cy="419154"/>
          </a:xfrm>
          <a:prstGeom prst="rect">
            <a:avLst/>
          </a:prstGeom>
        </p:spPr>
        <p:txBody>
          <a:bodyPr wrap="square" lIns="0" tIns="0" rIns="0" bIns="0" rtlCol="0" anchor="t">
            <a:spAutoFit/>
          </a:bodyPr>
          <a:lstStyle/>
          <a:p>
            <a:pPr algn="just">
              <a:lnSpc>
                <a:spcPts val="3499"/>
              </a:lnSpc>
            </a:pPr>
            <a:endParaRPr lang="en-US" sz="2800" dirty="0">
              <a:solidFill>
                <a:srgbClr val="222366"/>
              </a:solidFill>
              <a:latin typeface="Public Sans"/>
              <a:ea typeface="Public Sans"/>
              <a:cs typeface="Public Sans"/>
              <a:sym typeface="Public Sans"/>
            </a:endParaRPr>
          </a:p>
        </p:txBody>
      </p:sp>
      <p:sp>
        <p:nvSpPr>
          <p:cNvPr id="12" name="TextBox 12">
            <a:extLst>
              <a:ext uri="{FF2B5EF4-FFF2-40B4-BE49-F238E27FC236}">
                <a16:creationId xmlns:a16="http://schemas.microsoft.com/office/drawing/2014/main" id="{F5B4B9FE-7372-43C5-B2DB-AE23FB90DB5F}"/>
              </a:ext>
            </a:extLst>
          </p:cNvPr>
          <p:cNvSpPr txBox="1"/>
          <p:nvPr/>
        </p:nvSpPr>
        <p:spPr>
          <a:xfrm>
            <a:off x="11598517" y="4357372"/>
            <a:ext cx="6172949" cy="1182760"/>
          </a:xfrm>
          <a:prstGeom prst="rect">
            <a:avLst/>
          </a:prstGeom>
        </p:spPr>
        <p:txBody>
          <a:bodyPr lIns="0" tIns="0" rIns="0" bIns="0" rtlCol="0" anchor="t">
            <a:spAutoFit/>
          </a:bodyPr>
          <a:lstStyle/>
          <a:p>
            <a:pPr algn="l">
              <a:lnSpc>
                <a:spcPts val="10500"/>
              </a:lnSpc>
            </a:pPr>
            <a:r>
              <a:rPr lang="en-US" sz="6600" dirty="0">
                <a:solidFill>
                  <a:srgbClr val="222366"/>
                </a:solidFill>
                <a:latin typeface="Brick Sans"/>
                <a:ea typeface="Brick Sans"/>
                <a:cs typeface="Brick Sans"/>
                <a:sym typeface="Brick Sans"/>
              </a:rPr>
              <a:t>Live Demo!</a:t>
            </a:r>
          </a:p>
        </p:txBody>
      </p:sp>
      <p:sp>
        <p:nvSpPr>
          <p:cNvPr id="13" name="Freeform 8">
            <a:extLst>
              <a:ext uri="{FF2B5EF4-FFF2-40B4-BE49-F238E27FC236}">
                <a16:creationId xmlns:a16="http://schemas.microsoft.com/office/drawing/2014/main" id="{67124EA1-E228-9C18-39ED-E4878060A0D1}"/>
              </a:ext>
            </a:extLst>
          </p:cNvPr>
          <p:cNvSpPr/>
          <p:nvPr/>
        </p:nvSpPr>
        <p:spPr>
          <a:xfrm rot="20351430">
            <a:off x="836864" y="5296405"/>
            <a:ext cx="2683021" cy="3953040"/>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3179105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5" name="Freeform 5"/>
          <p:cNvSpPr/>
          <p:nvPr/>
        </p:nvSpPr>
        <p:spPr>
          <a:xfrm>
            <a:off x="-3095957" y="-3538303"/>
            <a:ext cx="6191914" cy="6073635"/>
          </a:xfrm>
          <a:custGeom>
            <a:avLst/>
            <a:gdLst/>
            <a:ahLst/>
            <a:cxnLst/>
            <a:rect l="l" t="t" r="r" b="b"/>
            <a:pathLst>
              <a:path w="6191914" h="6073635">
                <a:moveTo>
                  <a:pt x="0" y="0"/>
                </a:moveTo>
                <a:lnTo>
                  <a:pt x="6191914" y="0"/>
                </a:lnTo>
                <a:lnTo>
                  <a:pt x="6191914" y="6073635"/>
                </a:lnTo>
                <a:lnTo>
                  <a:pt x="0" y="60736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5511100" y="-3036817"/>
            <a:ext cx="6191914" cy="6073635"/>
          </a:xfrm>
          <a:custGeom>
            <a:avLst/>
            <a:gdLst/>
            <a:ahLst/>
            <a:cxnLst/>
            <a:rect l="l" t="t" r="r" b="b"/>
            <a:pathLst>
              <a:path w="6191914" h="6073635">
                <a:moveTo>
                  <a:pt x="0" y="0"/>
                </a:moveTo>
                <a:lnTo>
                  <a:pt x="6191914" y="0"/>
                </a:lnTo>
                <a:lnTo>
                  <a:pt x="6191914" y="6073634"/>
                </a:lnTo>
                <a:lnTo>
                  <a:pt x="0" y="60736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rot="-137149">
            <a:off x="-400707" y="5998890"/>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137149">
            <a:off x="16486601" y="382965"/>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3657600" y="1248703"/>
            <a:ext cx="11500658" cy="7030579"/>
          </a:xfrm>
          <a:prstGeom prst="rect">
            <a:avLst/>
          </a:prstGeom>
        </p:spPr>
        <p:txBody>
          <a:bodyPr wrap="square" lIns="0" tIns="0" rIns="0" bIns="0" rtlCol="0" anchor="t">
            <a:spAutoFit/>
          </a:bodyPr>
          <a:lstStyle/>
          <a:p>
            <a:pPr algn="just">
              <a:lnSpc>
                <a:spcPct val="150000"/>
              </a:lnSpc>
            </a:pPr>
            <a:r>
              <a:rPr lang="en-US" sz="2800" b="1" dirty="0">
                <a:solidFill>
                  <a:srgbClr val="222366"/>
                </a:solidFill>
                <a:latin typeface="Public Sans"/>
                <a:ea typeface="Public Sans"/>
                <a:cs typeface="Public Sans"/>
                <a:sym typeface="Public Sans"/>
              </a:rPr>
              <a:t>In conclusion, the Brain Tumor Detection System demonstrates that a lightweight CNN can deliver 99% accuracy on validation MRI scans while remaining practical for real‑time use. By combining careful preprocessing, an efficient architecture, and a user‑friendly </a:t>
            </a:r>
            <a:r>
              <a:rPr lang="en-US" sz="2800" b="1" dirty="0" err="1">
                <a:solidFill>
                  <a:srgbClr val="222366"/>
                </a:solidFill>
                <a:latin typeface="Public Sans"/>
                <a:ea typeface="Public Sans"/>
                <a:cs typeface="Public Sans"/>
                <a:sym typeface="Public Sans"/>
              </a:rPr>
              <a:t>Streamlit</a:t>
            </a:r>
            <a:r>
              <a:rPr lang="en-US" sz="2800" b="1" dirty="0">
                <a:solidFill>
                  <a:srgbClr val="222366"/>
                </a:solidFill>
                <a:latin typeface="Public Sans"/>
                <a:ea typeface="Public Sans"/>
                <a:cs typeface="Public Sans"/>
                <a:sym typeface="Public Sans"/>
              </a:rPr>
              <a:t> interface, the system reduces diagnostic delay and supports more consistent decision‑making. The strong validation metrics highlight the model’s reliability, and the modular design makes it ready for future expansion with larger datasets, explainable AI, and multi‑modal imaging. Overall, this work provides a solid foundation for AI‑assisted neuro‑diagnostics and a clear pathway toward clinical deployment.</a:t>
            </a:r>
          </a:p>
        </p:txBody>
      </p:sp>
      <p:sp>
        <p:nvSpPr>
          <p:cNvPr id="17" name="TextBox 17"/>
          <p:cNvSpPr txBox="1"/>
          <p:nvPr/>
        </p:nvSpPr>
        <p:spPr>
          <a:xfrm>
            <a:off x="1672932" y="271715"/>
            <a:ext cx="14942136" cy="1000851"/>
          </a:xfrm>
          <a:prstGeom prst="rect">
            <a:avLst/>
          </a:prstGeom>
        </p:spPr>
        <p:txBody>
          <a:bodyPr lIns="0" tIns="0" rIns="0" bIns="0" rtlCol="0" anchor="t">
            <a:spAutoFit/>
          </a:bodyPr>
          <a:lstStyle/>
          <a:p>
            <a:pPr algn="ctr">
              <a:lnSpc>
                <a:spcPts val="8819"/>
              </a:lnSpc>
            </a:pPr>
            <a:r>
              <a:rPr lang="en-US" sz="6300" dirty="0">
                <a:solidFill>
                  <a:srgbClr val="222366"/>
                </a:solidFill>
                <a:latin typeface="Brick Sans"/>
                <a:ea typeface="Brick Sans"/>
                <a:cs typeface="Brick Sans"/>
                <a:sym typeface="Brick Sans"/>
              </a:rPr>
              <a:t>CONCLUSION</a:t>
            </a:r>
          </a:p>
        </p:txBody>
      </p:sp>
      <p:sp>
        <p:nvSpPr>
          <p:cNvPr id="10" name="Freeform 13">
            <a:extLst>
              <a:ext uri="{FF2B5EF4-FFF2-40B4-BE49-F238E27FC236}">
                <a16:creationId xmlns:a16="http://schemas.microsoft.com/office/drawing/2014/main" id="{1E6649CE-B775-812F-3E13-B13FE5B46CEB}"/>
              </a:ext>
            </a:extLst>
          </p:cNvPr>
          <p:cNvSpPr/>
          <p:nvPr/>
        </p:nvSpPr>
        <p:spPr>
          <a:xfrm flipH="1">
            <a:off x="15032299" y="4213365"/>
            <a:ext cx="4310609" cy="6073635"/>
          </a:xfrm>
          <a:custGeom>
            <a:avLst/>
            <a:gdLst/>
            <a:ahLst/>
            <a:cxnLst/>
            <a:rect l="l" t="t" r="r" b="b"/>
            <a:pathLst>
              <a:path w="4752275" h="6304842">
                <a:moveTo>
                  <a:pt x="4752275" y="0"/>
                </a:moveTo>
                <a:lnTo>
                  <a:pt x="0" y="0"/>
                </a:lnTo>
                <a:lnTo>
                  <a:pt x="0" y="6304842"/>
                </a:lnTo>
                <a:lnTo>
                  <a:pt x="4752275" y="6304842"/>
                </a:lnTo>
                <a:lnTo>
                  <a:pt x="475227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9">
            <a:extLst>
              <a:ext uri="{FF2B5EF4-FFF2-40B4-BE49-F238E27FC236}">
                <a16:creationId xmlns:a16="http://schemas.microsoft.com/office/drawing/2014/main" id="{D0FBA435-5AA7-C89D-2682-861627835DF9}"/>
              </a:ext>
            </a:extLst>
          </p:cNvPr>
          <p:cNvSpPr/>
          <p:nvPr/>
        </p:nvSpPr>
        <p:spPr>
          <a:xfrm>
            <a:off x="-726167" y="4613336"/>
            <a:ext cx="5221967" cy="6073634"/>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6" name="Group 6">
            <a:extLst>
              <a:ext uri="{FF2B5EF4-FFF2-40B4-BE49-F238E27FC236}">
                <a16:creationId xmlns:a16="http://schemas.microsoft.com/office/drawing/2014/main" id="{CE0BC811-7205-2DB4-A08D-6E83FA4E6B21}"/>
              </a:ext>
            </a:extLst>
          </p:cNvPr>
          <p:cNvGrpSpPr/>
          <p:nvPr/>
        </p:nvGrpSpPr>
        <p:grpSpPr>
          <a:xfrm>
            <a:off x="4442988" y="8199742"/>
            <a:ext cx="9402023" cy="1710773"/>
            <a:chOff x="0" y="0"/>
            <a:chExt cx="1100680" cy="381469"/>
          </a:xfrm>
        </p:grpSpPr>
        <p:sp>
          <p:nvSpPr>
            <p:cNvPr id="18" name="Freeform 7">
              <a:extLst>
                <a:ext uri="{FF2B5EF4-FFF2-40B4-BE49-F238E27FC236}">
                  <a16:creationId xmlns:a16="http://schemas.microsoft.com/office/drawing/2014/main" id="{46B43622-8FDD-20FC-9D52-B70BF69CAFD1}"/>
                </a:ext>
              </a:extLst>
            </p:cNvPr>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txBody>
            <a:bodyPr/>
            <a:lstStyle/>
            <a:p>
              <a:endParaRPr lang="en-US" dirty="0"/>
            </a:p>
          </p:txBody>
        </p:sp>
        <p:sp>
          <p:nvSpPr>
            <p:cNvPr id="19" name="TextBox 8">
              <a:extLst>
                <a:ext uri="{FF2B5EF4-FFF2-40B4-BE49-F238E27FC236}">
                  <a16:creationId xmlns:a16="http://schemas.microsoft.com/office/drawing/2014/main" id="{C7E1B178-54BF-47EF-4513-FE35DB15AA88}"/>
                </a:ext>
              </a:extLst>
            </p:cNvPr>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23" name="TextBox 22">
            <a:extLst>
              <a:ext uri="{FF2B5EF4-FFF2-40B4-BE49-F238E27FC236}">
                <a16:creationId xmlns:a16="http://schemas.microsoft.com/office/drawing/2014/main" id="{657EF749-D007-C0D2-B789-0FB56C532537}"/>
              </a:ext>
            </a:extLst>
          </p:cNvPr>
          <p:cNvSpPr txBox="1"/>
          <p:nvPr/>
        </p:nvSpPr>
        <p:spPr>
          <a:xfrm>
            <a:off x="5424816" y="8340855"/>
            <a:ext cx="7966225" cy="1569660"/>
          </a:xfrm>
          <a:prstGeom prst="rect">
            <a:avLst/>
          </a:prstGeom>
          <a:noFill/>
        </p:spPr>
        <p:txBody>
          <a:bodyPr wrap="square">
            <a:spAutoFit/>
          </a:bodyPr>
          <a:lstStyle/>
          <a:p>
            <a:r>
              <a:rPr lang="en-US" sz="2400" dirty="0">
                <a:solidFill>
                  <a:srgbClr val="222366"/>
                </a:solidFill>
                <a:latin typeface="Brick Sans"/>
                <a:sym typeface="Brick Sans"/>
              </a:rPr>
              <a:t>“Every  Delayed  Diagnosis  Is  a  Life  At  Risk  Tumor  Trace  Aims  To  Ensure  No   Tumor  Goes  Undetected  -  Anywhere  In  The  World”</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22894" y="10496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1793077">
            <a:off x="1979827" y="-203162"/>
            <a:ext cx="1769402" cy="2463725"/>
          </a:xfrm>
          <a:custGeom>
            <a:avLst/>
            <a:gdLst/>
            <a:ahLst/>
            <a:cxnLst/>
            <a:rect l="l" t="t" r="r" b="b"/>
            <a:pathLst>
              <a:path w="1769402" h="2463725">
                <a:moveTo>
                  <a:pt x="0" y="0"/>
                </a:moveTo>
                <a:lnTo>
                  <a:pt x="1769402" y="0"/>
                </a:lnTo>
                <a:lnTo>
                  <a:pt x="1769402" y="2463724"/>
                </a:lnTo>
                <a:lnTo>
                  <a:pt x="0" y="24637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942242" y="24933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rot="855077">
            <a:off x="14265134" y="-162966"/>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3129847" y="603503"/>
            <a:ext cx="12092272" cy="4190887"/>
            <a:chOff x="0" y="0"/>
            <a:chExt cx="1100680" cy="381469"/>
          </a:xfrm>
        </p:grpSpPr>
        <p:sp>
          <p:nvSpPr>
            <p:cNvPr id="7" name="Freeform 7"/>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txBody>
            <a:bodyPr/>
            <a:lstStyle/>
            <a:p>
              <a:endParaRPr lang="en-US"/>
            </a:p>
          </p:txBody>
        </p:sp>
        <p:sp>
          <p:nvSpPr>
            <p:cNvPr id="8" name="TextBox 8"/>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432945" y="5542054"/>
            <a:ext cx="5018594" cy="5403600"/>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2639554" y="5542054"/>
            <a:ext cx="3814457" cy="5060639"/>
          </a:xfrm>
          <a:custGeom>
            <a:avLst/>
            <a:gdLst/>
            <a:ahLst/>
            <a:cxnLst/>
            <a:rect l="l" t="t" r="r" b="b"/>
            <a:pathLst>
              <a:path w="3814457" h="5060639">
                <a:moveTo>
                  <a:pt x="0" y="0"/>
                </a:moveTo>
                <a:lnTo>
                  <a:pt x="3814457" y="0"/>
                </a:lnTo>
                <a:lnTo>
                  <a:pt x="3814457" y="5060640"/>
                </a:lnTo>
                <a:lnTo>
                  <a:pt x="0" y="506064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a:off x="5644433" y="5542054"/>
            <a:ext cx="4031635" cy="5229715"/>
          </a:xfrm>
          <a:custGeom>
            <a:avLst/>
            <a:gdLst/>
            <a:ahLst/>
            <a:cxnLst/>
            <a:rect l="l" t="t" r="r" b="b"/>
            <a:pathLst>
              <a:path w="4031635" h="5229715">
                <a:moveTo>
                  <a:pt x="0" y="0"/>
                </a:moveTo>
                <a:lnTo>
                  <a:pt x="4031635" y="0"/>
                </a:lnTo>
                <a:lnTo>
                  <a:pt x="4031635" y="5229715"/>
                </a:lnTo>
                <a:lnTo>
                  <a:pt x="0" y="522971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rot="-1257881">
            <a:off x="-400893" y="2974914"/>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3" name="Freeform 13"/>
          <p:cNvSpPr/>
          <p:nvPr/>
        </p:nvSpPr>
        <p:spPr>
          <a:xfrm rot="-1248570">
            <a:off x="15858283" y="2774300"/>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a:off x="12635147" y="5372979"/>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5" name="Freeform 15"/>
          <p:cNvSpPr/>
          <p:nvPr/>
        </p:nvSpPr>
        <p:spPr>
          <a:xfrm rot="-5500207">
            <a:off x="3544370" y="3949723"/>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6" name="Freeform 16"/>
          <p:cNvSpPr/>
          <p:nvPr/>
        </p:nvSpPr>
        <p:spPr>
          <a:xfrm rot="-5500207" flipH="1">
            <a:off x="12877809" y="3865185"/>
            <a:ext cx="1402006" cy="1402006"/>
          </a:xfrm>
          <a:custGeom>
            <a:avLst/>
            <a:gdLst/>
            <a:ahLst/>
            <a:cxnLst/>
            <a:rect l="l" t="t" r="r" b="b"/>
            <a:pathLst>
              <a:path w="1402006" h="1402006">
                <a:moveTo>
                  <a:pt x="1402007" y="0"/>
                </a:moveTo>
                <a:lnTo>
                  <a:pt x="0" y="0"/>
                </a:lnTo>
                <a:lnTo>
                  <a:pt x="0" y="1402006"/>
                </a:lnTo>
                <a:lnTo>
                  <a:pt x="1402007" y="1402006"/>
                </a:lnTo>
                <a:lnTo>
                  <a:pt x="1402007"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7" name="TextBox 17"/>
          <p:cNvSpPr txBox="1"/>
          <p:nvPr/>
        </p:nvSpPr>
        <p:spPr>
          <a:xfrm>
            <a:off x="4087140" y="1506400"/>
            <a:ext cx="10311897" cy="2356479"/>
          </a:xfrm>
          <a:prstGeom prst="rect">
            <a:avLst/>
          </a:prstGeom>
        </p:spPr>
        <p:txBody>
          <a:bodyPr lIns="0" tIns="0" rIns="0" bIns="0" rtlCol="0" anchor="t">
            <a:spAutoFit/>
          </a:bodyPr>
          <a:lstStyle/>
          <a:p>
            <a:pPr algn="ctr">
              <a:lnSpc>
                <a:spcPts val="9799"/>
              </a:lnSpc>
            </a:pPr>
            <a:r>
              <a:rPr lang="en-US" sz="6000" dirty="0">
                <a:solidFill>
                  <a:srgbClr val="222366"/>
                </a:solidFill>
                <a:latin typeface="Brick Sans"/>
                <a:ea typeface="Brick Sans"/>
                <a:cs typeface="Brick Sans"/>
                <a:sym typeface="Brick Sans"/>
              </a:rPr>
              <a:t>Thank You For Your Attention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TotalTime>
  <Words>576</Words>
  <Application>Microsoft Macintosh PowerPoint</Application>
  <PresentationFormat>Custom</PresentationFormat>
  <Paragraphs>81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Aptos</vt:lpstr>
      <vt:lpstr>Public Sans Bold</vt:lpstr>
      <vt:lpstr>Brick Sans</vt:lpstr>
      <vt:lpstr>Public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Illustrative Innovations in Medicine Presentation</dc:title>
  <cp:lastModifiedBy>Ayush Rabhaji Sahane</cp:lastModifiedBy>
  <cp:revision>15</cp:revision>
  <dcterms:created xsi:type="dcterms:W3CDTF">2006-08-16T00:00:00Z</dcterms:created>
  <dcterms:modified xsi:type="dcterms:W3CDTF">2026-05-13T05:26:26Z</dcterms:modified>
  <dc:identifier>DAGUIcC6rXY</dc:identifier>
</cp:coreProperties>
</file>